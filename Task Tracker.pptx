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Platypi" panose="020B0604020202020204" charset="0"/>
      <p:regular r:id="rId14"/>
      <p:bold r:id="rId15"/>
      <p:italic r:id="rId16"/>
      <p:boldItalic r:id="rId17"/>
    </p:embeddedFont>
    <p:embeddedFont>
      <p:font typeface="Source Serif 4" panose="020B0604020202020204" charset="0"/>
      <p:regular r:id="rId18"/>
      <p:bold r:id="rId19"/>
      <p:italic r:id="rId20"/>
      <p:boldItalic r:id="rId21"/>
    </p:embeddedFont>
    <p:embeddedFont>
      <p:font typeface="Calibri" panose="020F0502020204030204" pitchFamily="3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5" d="100"/>
          <a:sy n="145" d="100"/>
        </p:scale>
        <p:origin x="62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429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7E57B9-CD1A-4C8E-A9B7-8311F0D3E9BB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4F1E38-D2E2-4B99-AF38-565F1F540E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70121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/>
              <a:t>‹#›</a:t>
            </a:fld>
            <a:endParaRPr sz="1200" b="0" i="0" u="none" strike="noStrike" cap="none"/>
          </a:p>
        </p:txBody>
      </p:sp>
    </p:spTree>
    <p:extLst>
      <p:ext uri="{BB962C8B-B14F-4D97-AF65-F5344CB8AC3E}">
        <p14:creationId xmlns:p14="http://schemas.microsoft.com/office/powerpoint/2010/main" val="398069144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" name="Google Shape;5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43179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10458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949659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878147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20927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01249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94719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647130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81012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43231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>
  <p:cSld name="Slide 7 mast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8 master">
  <p:cSld name="Slide 8 mast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9 master">
  <p:cSld name="Slide 9 master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0 master">
  <p:cSld name="Slide 10 mast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hyperlink" Target="https://github.com/meir111986/castle_task_tracker.git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3" descr="preencoded.png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 descr="preencoded.png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71613" y="2333625"/>
            <a:ext cx="4857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/>
          <p:nvPr/>
        </p:nvSpPr>
        <p:spPr>
          <a:xfrm>
            <a:off x="3925119" y="1744266"/>
            <a:ext cx="3544119" cy="442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750"/>
              <a:buFont typeface="Platypi"/>
              <a:buNone/>
            </a:pPr>
            <a:r>
              <a:rPr lang="en-US" sz="2750" b="0" i="0" u="none" strike="noStrike" cap="none">
                <a:solidFill>
                  <a:srgbClr val="201B18"/>
                </a:solidFill>
                <a:latin typeface="Platypi"/>
                <a:ea typeface="Platypi"/>
                <a:cs typeface="Platypi"/>
                <a:sym typeface="Platypi"/>
              </a:rPr>
              <a:t>Task Tracker</a:t>
            </a:r>
            <a:endParaRPr sz="2750" b="0" i="0" u="none" strike="noStrike" cap="none"/>
          </a:p>
        </p:txBody>
      </p:sp>
      <p:sp>
        <p:nvSpPr>
          <p:cNvPr id="59" name="Google Shape;59;p13"/>
          <p:cNvSpPr/>
          <p:nvPr/>
        </p:nvSpPr>
        <p:spPr>
          <a:xfrm>
            <a:off x="3925119" y="2399854"/>
            <a:ext cx="4722763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100"/>
              <a:buFont typeface="Source Serif 4"/>
              <a:buNone/>
            </a:pPr>
            <a:r>
              <a:rPr lang="en-US" sz="11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Flutter-приложение для управления задачами</a:t>
            </a:r>
            <a:endParaRPr sz="1100" b="0" i="0" u="none" strike="noStrike" cap="none"/>
          </a:p>
        </p:txBody>
      </p:sp>
      <p:sp>
        <p:nvSpPr>
          <p:cNvPr id="60" name="Google Shape;60;p13"/>
          <p:cNvSpPr/>
          <p:nvPr/>
        </p:nvSpPr>
        <p:spPr>
          <a:xfrm>
            <a:off x="3925119" y="2786137"/>
            <a:ext cx="4722763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100"/>
              <a:buFont typeface="Source Serif 4"/>
              <a:buNone/>
            </a:pPr>
            <a:r>
              <a:rPr lang="en-US" sz="1100" b="1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Выполнил:</a:t>
            </a:r>
            <a:r>
              <a:rPr lang="en-US" sz="11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Мейржан</a:t>
            </a:r>
            <a:endParaRPr sz="1100" b="0" i="0" u="none" strike="noStrike" cap="none"/>
          </a:p>
        </p:txBody>
      </p:sp>
      <p:sp>
        <p:nvSpPr>
          <p:cNvPr id="61" name="Google Shape;61;p13"/>
          <p:cNvSpPr/>
          <p:nvPr/>
        </p:nvSpPr>
        <p:spPr>
          <a:xfrm>
            <a:off x="3925119" y="3172420"/>
            <a:ext cx="4722763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100"/>
              <a:buFont typeface="Source Serif 4"/>
              <a:buNone/>
            </a:pPr>
            <a:r>
              <a:rPr lang="en-US" sz="1100" b="1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Технологии:</a:t>
            </a:r>
            <a:r>
              <a:rPr lang="en-US" sz="11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Flutter • BLoC/Cubit • Hive • Local Notifications</a:t>
            </a:r>
            <a:endParaRPr sz="1100" b="0" i="0" u="none" strike="noStrike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4" descr="preencoded.png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 descr="preencoded.png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60331" y="514350"/>
            <a:ext cx="1938338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/>
          <p:nvPr/>
        </p:nvSpPr>
        <p:spPr>
          <a:xfrm>
            <a:off x="325562" y="261417"/>
            <a:ext cx="2477319" cy="290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1800"/>
              <a:buFont typeface="Platypi"/>
              <a:buNone/>
            </a:pPr>
            <a:r>
              <a:rPr lang="en-US" sz="1800" b="0" i="0" u="none" strike="noStrike" cap="none">
                <a:solidFill>
                  <a:srgbClr val="201B18"/>
                </a:solidFill>
                <a:latin typeface="Platypi"/>
                <a:ea typeface="Platypi"/>
                <a:cs typeface="Platypi"/>
                <a:sym typeface="Platypi"/>
              </a:rPr>
              <a:t>Проблема и решение</a:t>
            </a:r>
            <a:endParaRPr sz="1800" b="0" i="0" u="none" strike="noStrike" cap="none"/>
          </a:p>
        </p:txBody>
      </p:sp>
      <p:sp>
        <p:nvSpPr>
          <p:cNvPr id="70" name="Google Shape;70;p14"/>
          <p:cNvSpPr/>
          <p:nvPr/>
        </p:nvSpPr>
        <p:spPr>
          <a:xfrm>
            <a:off x="325562" y="704701"/>
            <a:ext cx="1395487" cy="174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1050"/>
              <a:buFont typeface="Platypi"/>
              <a:buNone/>
            </a:pPr>
            <a:r>
              <a:rPr lang="en-US" sz="1050" b="0" i="0" u="none" strike="noStrike" cap="none">
                <a:solidFill>
                  <a:srgbClr val="201B18"/>
                </a:solidFill>
                <a:latin typeface="Platypi"/>
                <a:ea typeface="Platypi"/>
                <a:cs typeface="Platypi"/>
                <a:sym typeface="Platypi"/>
              </a:rPr>
              <a:t>Проблема</a:t>
            </a:r>
            <a:endParaRPr sz="1050" b="0" i="0" u="none" strike="noStrike" cap="none"/>
          </a:p>
        </p:txBody>
      </p:sp>
      <p:sp>
        <p:nvSpPr>
          <p:cNvPr id="71" name="Google Shape;71;p14"/>
          <p:cNvSpPr/>
          <p:nvPr/>
        </p:nvSpPr>
        <p:spPr>
          <a:xfrm>
            <a:off x="325562" y="940073"/>
            <a:ext cx="2418457" cy="246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700"/>
              <a:buFont typeface="Source Serif 4"/>
              <a:buNone/>
            </a:pPr>
            <a:r>
              <a:rPr lang="en-US" sz="7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Многие пользователи сталкиваются со следующими проблемами в управлении задачами:</a:t>
            </a:r>
            <a:endParaRPr sz="700" b="0" i="0" u="none" strike="noStrike" cap="none"/>
          </a:p>
        </p:txBody>
      </p:sp>
      <p:sp>
        <p:nvSpPr>
          <p:cNvPr id="72" name="Google Shape;72;p14"/>
          <p:cNvSpPr/>
          <p:nvPr/>
        </p:nvSpPr>
        <p:spPr>
          <a:xfrm>
            <a:off x="325562" y="1241450"/>
            <a:ext cx="2418457" cy="82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700"/>
              <a:buFont typeface="Source Serif 4"/>
              <a:buChar char="•"/>
            </a:pPr>
            <a:r>
              <a:rPr lang="en-US" sz="7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Сложно отслеживать дедлайны и сроки выполнения</a:t>
            </a:r>
            <a:endParaRPr sz="700" b="0" i="0" u="none" strike="noStrike" cap="none"/>
          </a:p>
          <a:p>
            <a:pPr marL="342900" marR="0" lvl="0" indent="-3429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700"/>
              <a:buFont typeface="Source Serif 4"/>
              <a:buChar char="•"/>
            </a:pPr>
            <a:r>
              <a:rPr lang="en-US" sz="7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Задачи теряются в процессе работы</a:t>
            </a:r>
            <a:endParaRPr sz="700" b="0" i="0" u="none" strike="noStrike" cap="none"/>
          </a:p>
          <a:p>
            <a:pPr marL="342900" marR="0" lvl="0" indent="-3429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700"/>
              <a:buFont typeface="Source Serif 4"/>
              <a:buChar char="•"/>
            </a:pPr>
            <a:r>
              <a:rPr lang="en-US" sz="7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Отсутствуют напоминания о важных событиях</a:t>
            </a:r>
            <a:endParaRPr sz="700" b="0" i="0" u="none" strike="noStrike" cap="none"/>
          </a:p>
          <a:p>
            <a:pPr marL="342900" marR="0" lvl="0" indent="-3429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700"/>
              <a:buFont typeface="Source Serif 4"/>
              <a:buChar char="•"/>
            </a:pPr>
            <a:r>
              <a:rPr lang="en-US" sz="7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Неудобно разделять рабочие и личные задачи</a:t>
            </a:r>
            <a:endParaRPr sz="700" b="0" i="0" u="none" strike="noStrike" cap="none"/>
          </a:p>
          <a:p>
            <a:pPr marL="342900" marR="0" lvl="0" indent="-3429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700"/>
              <a:buFont typeface="Source Serif 4"/>
              <a:buChar char="•"/>
            </a:pPr>
            <a:r>
              <a:rPr lang="en-US" sz="7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Нет визуального контроля выполненных задач</a:t>
            </a:r>
            <a:endParaRPr sz="700" b="0" i="0" u="none" strike="noStrike" cap="none"/>
          </a:p>
        </p:txBody>
      </p:sp>
      <p:sp>
        <p:nvSpPr>
          <p:cNvPr id="73" name="Google Shape;73;p14"/>
          <p:cNvSpPr/>
          <p:nvPr/>
        </p:nvSpPr>
        <p:spPr>
          <a:xfrm>
            <a:off x="2975744" y="704701"/>
            <a:ext cx="1395487" cy="174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1050"/>
              <a:buFont typeface="Platypi"/>
              <a:buNone/>
            </a:pPr>
            <a:r>
              <a:rPr lang="en-US" sz="1050" b="0" i="0" u="none" strike="noStrike" cap="none">
                <a:solidFill>
                  <a:srgbClr val="201B18"/>
                </a:solidFill>
                <a:latin typeface="Platypi"/>
                <a:ea typeface="Platypi"/>
                <a:cs typeface="Platypi"/>
                <a:sym typeface="Platypi"/>
              </a:rPr>
              <a:t>Решение</a:t>
            </a:r>
            <a:endParaRPr sz="1050" b="0" i="0" u="none" strike="noStrike" cap="none"/>
          </a:p>
        </p:txBody>
      </p:sp>
      <p:sp>
        <p:nvSpPr>
          <p:cNvPr id="74" name="Google Shape;74;p14"/>
          <p:cNvSpPr/>
          <p:nvPr/>
        </p:nvSpPr>
        <p:spPr>
          <a:xfrm>
            <a:off x="2975744" y="940073"/>
            <a:ext cx="2418457" cy="246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700"/>
              <a:buFont typeface="Source Serif 4"/>
              <a:buNone/>
            </a:pPr>
            <a:r>
              <a:rPr lang="en-US" sz="7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Приложение Task Tracker позволяет эффективно управлять задачами:</a:t>
            </a:r>
            <a:endParaRPr sz="700" b="0" i="0" u="none" strike="noStrike" cap="none"/>
          </a:p>
        </p:txBody>
      </p:sp>
      <p:sp>
        <p:nvSpPr>
          <p:cNvPr id="75" name="Google Shape;75;p14"/>
          <p:cNvSpPr/>
          <p:nvPr/>
        </p:nvSpPr>
        <p:spPr>
          <a:xfrm>
            <a:off x="2975744" y="1241450"/>
            <a:ext cx="2418457" cy="1113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700"/>
              <a:buFont typeface="Source Serif 4"/>
              <a:buChar char="•"/>
            </a:pPr>
            <a:r>
              <a:rPr lang="en-US" sz="7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Создавать задачи с детальной информацией</a:t>
            </a:r>
            <a:endParaRPr sz="700" b="0" i="0" u="none" strike="noStrike" cap="none"/>
          </a:p>
          <a:p>
            <a:pPr marL="342900" marR="0" lvl="0" indent="-3429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700"/>
              <a:buFont typeface="Source Serif 4"/>
              <a:buChar char="•"/>
            </a:pPr>
            <a:r>
              <a:rPr lang="en-US" sz="7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Назначать приоритеты выполнения</a:t>
            </a:r>
            <a:endParaRPr sz="700" b="0" i="0" u="none" strike="noStrike" cap="none"/>
          </a:p>
          <a:p>
            <a:pPr marL="342900" marR="0" lvl="0" indent="-3429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700"/>
              <a:buFont typeface="Source Serif 4"/>
              <a:buChar char="•"/>
            </a:pPr>
            <a:r>
              <a:rPr lang="en-US" sz="7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Устанавливать дату и время дедлайна</a:t>
            </a:r>
            <a:endParaRPr sz="700" b="0" i="0" u="none" strike="noStrike" cap="none"/>
          </a:p>
          <a:p>
            <a:pPr marL="342900" marR="0" lvl="0" indent="-3429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700"/>
              <a:buFont typeface="Source Serif 4"/>
              <a:buChar char="•"/>
            </a:pPr>
            <a:r>
              <a:rPr lang="en-US" sz="7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Получать уведомления о предстоящих задачах</a:t>
            </a:r>
            <a:endParaRPr sz="700" b="0" i="0" u="none" strike="noStrike" cap="none"/>
          </a:p>
          <a:p>
            <a:pPr marL="342900" marR="0" lvl="0" indent="-3429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700"/>
              <a:buFont typeface="Source Serif 4"/>
              <a:buChar char="•"/>
            </a:pPr>
            <a:r>
              <a:rPr lang="en-US" sz="7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Фильтровать и сортировать задачи по различным критериям</a:t>
            </a:r>
            <a:endParaRPr sz="700" b="0" i="0" u="none" strike="noStrike" cap="none"/>
          </a:p>
          <a:p>
            <a:pPr marL="342900" marR="0" lvl="0" indent="-3429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700"/>
              <a:buFont typeface="Source Serif 4"/>
              <a:buChar char="•"/>
            </a:pPr>
            <a:r>
              <a:rPr lang="en-US" sz="7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Отслеживать выполненные задачи</a:t>
            </a:r>
            <a:endParaRPr sz="700" b="0" i="0" u="none" strike="noStrike" cap="none"/>
          </a:p>
          <a:p>
            <a:pPr marL="342900" marR="0" lvl="0" indent="-3429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700"/>
              <a:buFont typeface="Source Serif 4"/>
              <a:buChar char="•"/>
            </a:pPr>
            <a:r>
              <a:rPr lang="en-US" sz="7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Просматривать задачи в календаре</a:t>
            </a:r>
            <a:endParaRPr sz="700" b="0" i="0" u="none" strike="noStrike" cap="none"/>
          </a:p>
        </p:txBody>
      </p:sp>
      <p:sp>
        <p:nvSpPr>
          <p:cNvPr id="76" name="Google Shape;76;p14"/>
          <p:cNvSpPr/>
          <p:nvPr/>
        </p:nvSpPr>
        <p:spPr>
          <a:xfrm>
            <a:off x="325562" y="2468314"/>
            <a:ext cx="1395487" cy="174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1050"/>
              <a:buFont typeface="Platypi"/>
              <a:buNone/>
            </a:pPr>
            <a:r>
              <a:rPr lang="en-US" sz="1050" b="0" i="0" u="none" strike="noStrike" cap="none">
                <a:solidFill>
                  <a:srgbClr val="201B18"/>
                </a:solidFill>
                <a:latin typeface="Platypi"/>
                <a:ea typeface="Platypi"/>
                <a:cs typeface="Platypi"/>
                <a:sym typeface="Platypi"/>
              </a:rPr>
              <a:t>Целевая аудитория</a:t>
            </a:r>
            <a:endParaRPr sz="1050" b="0" i="0" u="none" strike="noStrike" cap="none"/>
          </a:p>
        </p:txBody>
      </p:sp>
      <p:sp>
        <p:nvSpPr>
          <p:cNvPr id="77" name="Google Shape;77;p14"/>
          <p:cNvSpPr/>
          <p:nvPr/>
        </p:nvSpPr>
        <p:spPr>
          <a:xfrm>
            <a:off x="325562" y="2734196"/>
            <a:ext cx="5063877" cy="491207"/>
          </a:xfrm>
          <a:prstGeom prst="roundRect">
            <a:avLst>
              <a:gd name="adj" fmla="val 2841"/>
            </a:avLst>
          </a:prstGeom>
          <a:solidFill>
            <a:srgbClr val="F9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4"/>
          <p:cNvSpPr/>
          <p:nvPr/>
        </p:nvSpPr>
        <p:spPr>
          <a:xfrm>
            <a:off x="418579" y="2827213"/>
            <a:ext cx="1162869" cy="145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900"/>
              <a:buFont typeface="Platypi"/>
              <a:buNone/>
            </a:pPr>
            <a:r>
              <a:rPr lang="en-US" sz="900" b="0" i="0" u="none" strike="noStrike" cap="none">
                <a:solidFill>
                  <a:srgbClr val="504C49"/>
                </a:solidFill>
                <a:latin typeface="Platypi"/>
                <a:ea typeface="Platypi"/>
                <a:cs typeface="Platypi"/>
                <a:sym typeface="Platypi"/>
              </a:rPr>
              <a:t>Студенты</a:t>
            </a:r>
            <a:endParaRPr sz="900" b="0" i="0" u="none" strike="noStrike" cap="none"/>
          </a:p>
        </p:txBody>
      </p:sp>
      <p:sp>
        <p:nvSpPr>
          <p:cNvPr id="79" name="Google Shape;79;p14"/>
          <p:cNvSpPr/>
          <p:nvPr/>
        </p:nvSpPr>
        <p:spPr>
          <a:xfrm>
            <a:off x="418579" y="3009156"/>
            <a:ext cx="4877842" cy="123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700"/>
              <a:buFont typeface="Source Serif 4"/>
              <a:buNone/>
            </a:pPr>
            <a:r>
              <a:rPr lang="en-US" sz="7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Управление учебными задачами и дедлайнами</a:t>
            </a:r>
            <a:endParaRPr sz="700" b="0" i="0" u="none" strike="noStrike" cap="none"/>
          </a:p>
        </p:txBody>
      </p:sp>
      <p:sp>
        <p:nvSpPr>
          <p:cNvPr id="80" name="Google Shape;80;p14"/>
          <p:cNvSpPr/>
          <p:nvPr/>
        </p:nvSpPr>
        <p:spPr>
          <a:xfrm>
            <a:off x="325562" y="3286423"/>
            <a:ext cx="5063877" cy="491207"/>
          </a:xfrm>
          <a:prstGeom prst="roundRect">
            <a:avLst>
              <a:gd name="adj" fmla="val 2841"/>
            </a:avLst>
          </a:prstGeom>
          <a:solidFill>
            <a:srgbClr val="F9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4"/>
          <p:cNvSpPr/>
          <p:nvPr/>
        </p:nvSpPr>
        <p:spPr>
          <a:xfrm>
            <a:off x="418579" y="3379440"/>
            <a:ext cx="1226344" cy="145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900"/>
              <a:buFont typeface="Platypi"/>
              <a:buNone/>
            </a:pPr>
            <a:r>
              <a:rPr lang="en-US" sz="900" b="0" i="0" u="none" strike="noStrike" cap="none">
                <a:solidFill>
                  <a:srgbClr val="504C49"/>
                </a:solidFill>
                <a:latin typeface="Platypi"/>
                <a:ea typeface="Platypi"/>
                <a:cs typeface="Platypi"/>
                <a:sym typeface="Platypi"/>
              </a:rPr>
              <a:t>Офисные сотрудники</a:t>
            </a:r>
            <a:endParaRPr sz="900" b="0" i="0" u="none" strike="noStrike" cap="none"/>
          </a:p>
        </p:txBody>
      </p:sp>
      <p:sp>
        <p:nvSpPr>
          <p:cNvPr id="82" name="Google Shape;82;p14"/>
          <p:cNvSpPr/>
          <p:nvPr/>
        </p:nvSpPr>
        <p:spPr>
          <a:xfrm>
            <a:off x="418579" y="3561383"/>
            <a:ext cx="4877842" cy="123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700"/>
              <a:buFont typeface="Source Serif 4"/>
              <a:buNone/>
            </a:pPr>
            <a:r>
              <a:rPr lang="en-US" sz="7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Организация рабочих проектов</a:t>
            </a:r>
            <a:endParaRPr sz="700" b="0" i="0" u="none" strike="noStrike" cap="none"/>
          </a:p>
        </p:txBody>
      </p:sp>
      <p:sp>
        <p:nvSpPr>
          <p:cNvPr id="83" name="Google Shape;83;p14"/>
          <p:cNvSpPr/>
          <p:nvPr/>
        </p:nvSpPr>
        <p:spPr>
          <a:xfrm>
            <a:off x="325562" y="3838649"/>
            <a:ext cx="5063877" cy="491207"/>
          </a:xfrm>
          <a:prstGeom prst="roundRect">
            <a:avLst>
              <a:gd name="adj" fmla="val 2841"/>
            </a:avLst>
          </a:prstGeom>
          <a:solidFill>
            <a:srgbClr val="F9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4"/>
          <p:cNvSpPr/>
          <p:nvPr/>
        </p:nvSpPr>
        <p:spPr>
          <a:xfrm>
            <a:off x="418579" y="3931667"/>
            <a:ext cx="1162869" cy="145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900"/>
              <a:buFont typeface="Platypi"/>
              <a:buNone/>
            </a:pPr>
            <a:r>
              <a:rPr lang="en-US" sz="900" b="0" i="0" u="none" strike="noStrike" cap="none">
                <a:solidFill>
                  <a:srgbClr val="504C49"/>
                </a:solidFill>
                <a:latin typeface="Platypi"/>
                <a:ea typeface="Platypi"/>
                <a:cs typeface="Platypi"/>
                <a:sym typeface="Platypi"/>
              </a:rPr>
              <a:t>Фрилансеры</a:t>
            </a:r>
            <a:endParaRPr sz="900" b="0" i="0" u="none" strike="noStrike" cap="none"/>
          </a:p>
        </p:txBody>
      </p:sp>
      <p:sp>
        <p:nvSpPr>
          <p:cNvPr id="85" name="Google Shape;85;p14"/>
          <p:cNvSpPr/>
          <p:nvPr/>
        </p:nvSpPr>
        <p:spPr>
          <a:xfrm>
            <a:off x="418579" y="4113609"/>
            <a:ext cx="4877842" cy="123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700"/>
              <a:buFont typeface="Source Serif 4"/>
              <a:buNone/>
            </a:pPr>
            <a:r>
              <a:rPr lang="en-US" sz="7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Контроль множества проектов</a:t>
            </a:r>
            <a:endParaRPr sz="700" b="0" i="0" u="none" strike="noStrike" cap="none"/>
          </a:p>
        </p:txBody>
      </p:sp>
      <p:sp>
        <p:nvSpPr>
          <p:cNvPr id="86" name="Google Shape;86;p14"/>
          <p:cNvSpPr/>
          <p:nvPr/>
        </p:nvSpPr>
        <p:spPr>
          <a:xfrm>
            <a:off x="325562" y="4390876"/>
            <a:ext cx="5063877" cy="491207"/>
          </a:xfrm>
          <a:prstGeom prst="roundRect">
            <a:avLst>
              <a:gd name="adj" fmla="val 2841"/>
            </a:avLst>
          </a:prstGeom>
          <a:solidFill>
            <a:srgbClr val="F9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4"/>
          <p:cNvSpPr/>
          <p:nvPr/>
        </p:nvSpPr>
        <p:spPr>
          <a:xfrm>
            <a:off x="418579" y="4483894"/>
            <a:ext cx="1162869" cy="145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900"/>
              <a:buFont typeface="Platypi"/>
              <a:buNone/>
            </a:pPr>
            <a:r>
              <a:rPr lang="en-US" sz="900" b="0" i="0" u="none" strike="noStrike" cap="none">
                <a:solidFill>
                  <a:srgbClr val="504C49"/>
                </a:solidFill>
                <a:latin typeface="Platypi"/>
                <a:ea typeface="Platypi"/>
                <a:cs typeface="Platypi"/>
                <a:sym typeface="Platypi"/>
              </a:rPr>
              <a:t>Профессионалы</a:t>
            </a:r>
            <a:endParaRPr sz="900" b="0" i="0" u="none" strike="noStrike" cap="none"/>
          </a:p>
        </p:txBody>
      </p:sp>
      <p:sp>
        <p:nvSpPr>
          <p:cNvPr id="88" name="Google Shape;88;p14"/>
          <p:cNvSpPr/>
          <p:nvPr/>
        </p:nvSpPr>
        <p:spPr>
          <a:xfrm>
            <a:off x="418579" y="4665836"/>
            <a:ext cx="4877842" cy="123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700"/>
              <a:buFont typeface="Source Serif 4"/>
              <a:buNone/>
            </a:pPr>
            <a:r>
              <a:rPr lang="en-US" sz="7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Работа с дедлайнами</a:t>
            </a:r>
            <a:endParaRPr sz="700" b="0" i="0" u="none" strike="noStrike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5" descr="preencoded.png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5" descr="preencoded.png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5331" y="514350"/>
            <a:ext cx="1938338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5"/>
          <p:cNvSpPr/>
          <p:nvPr/>
        </p:nvSpPr>
        <p:spPr>
          <a:xfrm>
            <a:off x="3832101" y="331515"/>
            <a:ext cx="3245941" cy="3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250"/>
              <a:buFont typeface="Platypi"/>
              <a:buNone/>
            </a:pPr>
            <a:r>
              <a:rPr lang="en-US" sz="2250" b="0" i="0" u="none" strike="noStrike" cap="none">
                <a:solidFill>
                  <a:srgbClr val="201B18"/>
                </a:solidFill>
                <a:latin typeface="Platypi"/>
                <a:ea typeface="Platypi"/>
                <a:cs typeface="Platypi"/>
                <a:sym typeface="Platypi"/>
              </a:rPr>
              <a:t>Основной функционал</a:t>
            </a:r>
            <a:endParaRPr sz="2250" b="0" i="0" u="none" strike="noStrike" cap="none"/>
          </a:p>
        </p:txBody>
      </p:sp>
      <p:pic>
        <p:nvPicPr>
          <p:cNvPr id="97" name="Google Shape;97;p15" descr="preencoded.png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32101" y="831800"/>
            <a:ext cx="287908" cy="287908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5"/>
          <p:cNvSpPr/>
          <p:nvPr/>
        </p:nvSpPr>
        <p:spPr>
          <a:xfrm>
            <a:off x="4236988" y="831800"/>
            <a:ext cx="1439763" cy="179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100"/>
              <a:buFont typeface="Platypi"/>
              <a:buNone/>
            </a:pPr>
            <a:r>
              <a:rPr lang="en-US" sz="1100" b="0" i="0" u="none" strike="noStrike" cap="none">
                <a:solidFill>
                  <a:srgbClr val="504C49"/>
                </a:solidFill>
                <a:latin typeface="Platypi"/>
                <a:ea typeface="Platypi"/>
                <a:cs typeface="Platypi"/>
                <a:sym typeface="Platypi"/>
              </a:rPr>
              <a:t>Работа с задачами</a:t>
            </a:r>
            <a:endParaRPr sz="1100" b="0" i="0" u="none" strike="noStrike" cap="none"/>
          </a:p>
        </p:txBody>
      </p:sp>
      <p:sp>
        <p:nvSpPr>
          <p:cNvPr id="99" name="Google Shape;99;p15"/>
          <p:cNvSpPr/>
          <p:nvPr/>
        </p:nvSpPr>
        <p:spPr>
          <a:xfrm>
            <a:off x="4236988" y="1067842"/>
            <a:ext cx="4503911" cy="766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900"/>
              <a:buFont typeface="Source Serif 4"/>
              <a:buChar char="•"/>
            </a:pPr>
            <a:r>
              <a:rPr lang="en-US" sz="9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Создание задачи</a:t>
            </a:r>
            <a:endParaRPr sz="900" b="0" i="0" u="none" strike="noStrike" cap="none"/>
          </a:p>
          <a:p>
            <a:pPr marL="342900" marR="0" lvl="0" indent="-34290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900"/>
              <a:buFont typeface="Source Serif 4"/>
              <a:buChar char="•"/>
            </a:pPr>
            <a:r>
              <a:rPr lang="en-US" sz="9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Редактирование</a:t>
            </a:r>
            <a:endParaRPr sz="900" b="0" i="0" u="none" strike="noStrike" cap="none"/>
          </a:p>
          <a:p>
            <a:pPr marL="342900" marR="0" lvl="0" indent="-34290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900"/>
              <a:buFont typeface="Source Serif 4"/>
              <a:buChar char="•"/>
            </a:pPr>
            <a:r>
              <a:rPr lang="en-US" sz="9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Удаление</a:t>
            </a:r>
            <a:endParaRPr sz="900" b="0" i="0" u="none" strike="noStrike" cap="none"/>
          </a:p>
          <a:p>
            <a:pPr marL="342900" marR="0" lvl="0" indent="-34290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900"/>
              <a:buFont typeface="Source Serif 4"/>
              <a:buChar char="•"/>
            </a:pPr>
            <a:r>
              <a:rPr lang="en-US" sz="9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Подтверждение выполнения</a:t>
            </a:r>
            <a:endParaRPr sz="900" b="0" i="0" u="none" strike="noStrike" cap="none"/>
          </a:p>
        </p:txBody>
      </p:sp>
      <p:pic>
        <p:nvPicPr>
          <p:cNvPr id="100" name="Google Shape;100;p15" descr="preencoded.png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32101" y="2021160"/>
            <a:ext cx="287908" cy="287908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/>
          <p:nvPr/>
        </p:nvSpPr>
        <p:spPr>
          <a:xfrm>
            <a:off x="4236988" y="2021160"/>
            <a:ext cx="1439763" cy="179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100"/>
              <a:buFont typeface="Platypi"/>
              <a:buNone/>
            </a:pPr>
            <a:r>
              <a:rPr lang="en-US" sz="1100" b="0" i="0" u="none" strike="noStrike" cap="none">
                <a:solidFill>
                  <a:srgbClr val="504C49"/>
                </a:solidFill>
                <a:latin typeface="Platypi"/>
                <a:ea typeface="Platypi"/>
                <a:cs typeface="Platypi"/>
                <a:sym typeface="Platypi"/>
              </a:rPr>
              <a:t>Организация задач</a:t>
            </a:r>
            <a:endParaRPr sz="1100" b="0" i="0" u="none" strike="noStrike" cap="none"/>
          </a:p>
        </p:txBody>
      </p:sp>
      <p:sp>
        <p:nvSpPr>
          <p:cNvPr id="102" name="Google Shape;102;p15"/>
          <p:cNvSpPr/>
          <p:nvPr/>
        </p:nvSpPr>
        <p:spPr>
          <a:xfrm>
            <a:off x="4236988" y="2257202"/>
            <a:ext cx="4503911" cy="965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900"/>
              <a:buFont typeface="Source Serif 4"/>
              <a:buChar char="•"/>
            </a:pPr>
            <a:r>
              <a:rPr lang="en-US" sz="9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Категории (Работа / Личное)</a:t>
            </a:r>
            <a:endParaRPr sz="900" b="0" i="0" u="none" strike="noStrike" cap="none"/>
          </a:p>
          <a:p>
            <a:pPr marL="342900" marR="0" lvl="0" indent="-34290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900"/>
              <a:buFont typeface="Source Serif 4"/>
              <a:buChar char="•"/>
            </a:pPr>
            <a:r>
              <a:rPr lang="en-US" sz="9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Приоритеты (Высокий / Средний / Низкий)</a:t>
            </a:r>
            <a:endParaRPr sz="900" b="0" i="0" u="none" strike="noStrike" cap="none"/>
          </a:p>
          <a:p>
            <a:pPr marL="342900" marR="0" lvl="0" indent="-34290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900"/>
              <a:buFont typeface="Source Serif 4"/>
              <a:buChar char="•"/>
            </a:pPr>
            <a:r>
              <a:rPr lang="en-US" sz="9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Сортировка</a:t>
            </a:r>
            <a:endParaRPr sz="900" b="0" i="0" u="none" strike="noStrike" cap="none"/>
          </a:p>
          <a:p>
            <a:pPr marL="342900" marR="0" lvl="0" indent="-34290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900"/>
              <a:buFont typeface="Source Serif 4"/>
              <a:buChar char="•"/>
            </a:pPr>
            <a:r>
              <a:rPr lang="en-US" sz="9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Поиск</a:t>
            </a:r>
            <a:endParaRPr sz="900" b="0" i="0" u="none" strike="noStrike" cap="none"/>
          </a:p>
          <a:p>
            <a:pPr marL="342900" marR="0" lvl="0" indent="-34290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900"/>
              <a:buFont typeface="Source Serif 4"/>
              <a:buChar char="•"/>
            </a:pPr>
            <a:r>
              <a:rPr lang="en-US" sz="9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Фильтрация</a:t>
            </a:r>
            <a:endParaRPr sz="900" b="0" i="0" u="none" strike="noStrike" cap="none"/>
          </a:p>
        </p:txBody>
      </p:sp>
      <p:pic>
        <p:nvPicPr>
          <p:cNvPr id="103" name="Google Shape;103;p15" descr="preencoded.png"/>
          <p:cNvPicPr preferRelativeResize="0"/>
          <p:nvPr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32101" y="3410248"/>
            <a:ext cx="287908" cy="28790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/>
          <p:nvPr/>
        </p:nvSpPr>
        <p:spPr>
          <a:xfrm>
            <a:off x="4236988" y="3410248"/>
            <a:ext cx="2219251" cy="179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100"/>
              <a:buFont typeface="Platypi"/>
              <a:buNone/>
            </a:pPr>
            <a:r>
              <a:rPr lang="en-US" sz="1100" b="0" i="0" u="none" strike="noStrike" cap="none">
                <a:solidFill>
                  <a:srgbClr val="504C49"/>
                </a:solidFill>
                <a:latin typeface="Platypi"/>
                <a:ea typeface="Platypi"/>
                <a:cs typeface="Platypi"/>
                <a:sym typeface="Platypi"/>
              </a:rPr>
              <a:t>Дополнительные возможности</a:t>
            </a:r>
            <a:endParaRPr sz="1100" b="0" i="0" u="none" strike="noStrike" cap="none"/>
          </a:p>
        </p:txBody>
      </p:sp>
      <p:sp>
        <p:nvSpPr>
          <p:cNvPr id="105" name="Google Shape;105;p15"/>
          <p:cNvSpPr/>
          <p:nvPr/>
        </p:nvSpPr>
        <p:spPr>
          <a:xfrm>
            <a:off x="4236988" y="3646289"/>
            <a:ext cx="4503911" cy="116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900"/>
              <a:buFont typeface="Source Serif 4"/>
              <a:buChar char="•"/>
            </a:pPr>
            <a:r>
              <a:rPr lang="en-US" sz="9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Календарь задач</a:t>
            </a:r>
            <a:endParaRPr sz="900" b="0" i="0" u="none" strike="noStrike" cap="none"/>
          </a:p>
          <a:p>
            <a:pPr marL="342900" marR="0" lvl="0" indent="-34290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900"/>
              <a:buFont typeface="Source Serif 4"/>
              <a:buChar char="•"/>
            </a:pPr>
            <a:r>
              <a:rPr lang="en-US" sz="9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Уведомления по времени</a:t>
            </a:r>
            <a:endParaRPr sz="900" b="0" i="0" u="none" strike="noStrike" cap="none"/>
          </a:p>
          <a:p>
            <a:pPr marL="342900" marR="0" lvl="0" indent="-34290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900"/>
              <a:buFont typeface="Source Serif 4"/>
              <a:buChar char="•"/>
            </a:pPr>
            <a:r>
              <a:rPr lang="en-US" sz="9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Экран выполненных задач</a:t>
            </a:r>
            <a:endParaRPr sz="900" b="0" i="0" u="none" strike="noStrike" cap="none"/>
          </a:p>
          <a:p>
            <a:pPr marL="342900" marR="0" lvl="0" indent="-34290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900"/>
              <a:buFont typeface="Source Serif 4"/>
              <a:buChar char="•"/>
            </a:pPr>
            <a:r>
              <a:rPr lang="en-US" sz="9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Экран всех задач</a:t>
            </a:r>
            <a:endParaRPr sz="900" b="0" i="0" u="none" strike="noStrike" cap="none"/>
          </a:p>
          <a:p>
            <a:pPr marL="342900" marR="0" lvl="0" indent="-34290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900"/>
              <a:buFont typeface="Source Serif 4"/>
              <a:buChar char="•"/>
            </a:pPr>
            <a:r>
              <a:rPr lang="en-US" sz="9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Swipe delete</a:t>
            </a:r>
            <a:endParaRPr sz="900" b="0" i="0" u="none" strike="noStrike" cap="none"/>
          </a:p>
          <a:p>
            <a:pPr marL="342900" marR="0" lvl="0" indent="-34290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900"/>
              <a:buFont typeface="Source Serif 4"/>
              <a:buChar char="•"/>
            </a:pPr>
            <a:r>
              <a:rPr lang="en-US" sz="9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Long press menu</a:t>
            </a:r>
            <a:endParaRPr sz="900" b="0" i="0" u="none" strike="noStrike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/>
          <p:nvPr/>
        </p:nvSpPr>
        <p:spPr>
          <a:xfrm>
            <a:off x="449610" y="391418"/>
            <a:ext cx="3211860" cy="401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500"/>
              <a:buFont typeface="Platypi"/>
              <a:buNone/>
            </a:pPr>
            <a:r>
              <a:rPr lang="en-US" sz="2500" b="0" i="0" u="none" strike="noStrike" cap="none">
                <a:solidFill>
                  <a:srgbClr val="201B18"/>
                </a:solidFill>
                <a:latin typeface="Platypi"/>
                <a:ea typeface="Platypi"/>
                <a:cs typeface="Platypi"/>
                <a:sym typeface="Platypi"/>
              </a:rPr>
              <a:t>Стек технологий</a:t>
            </a:r>
            <a:endParaRPr sz="2500" b="0" i="0" u="none" strike="noStrike" cap="none"/>
          </a:p>
        </p:txBody>
      </p:sp>
      <p:sp>
        <p:nvSpPr>
          <p:cNvPr id="112" name="Google Shape;112;p16"/>
          <p:cNvSpPr/>
          <p:nvPr/>
        </p:nvSpPr>
        <p:spPr>
          <a:xfrm>
            <a:off x="449610" y="1218381"/>
            <a:ext cx="2670646" cy="1126257"/>
          </a:xfrm>
          <a:prstGeom prst="roundRect">
            <a:avLst>
              <a:gd name="adj" fmla="val 6089"/>
            </a:avLst>
          </a:prstGeom>
          <a:solidFill>
            <a:srgbClr val="FFFFFF"/>
          </a:solidFill>
          <a:ln w="14275" cap="flat" cmpd="sng">
            <a:solidFill>
              <a:srgbClr val="D8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6"/>
          <p:cNvSpPr/>
          <p:nvPr/>
        </p:nvSpPr>
        <p:spPr>
          <a:xfrm>
            <a:off x="449610" y="1204094"/>
            <a:ext cx="2670646" cy="57150"/>
          </a:xfrm>
          <a:prstGeom prst="roundRect">
            <a:avLst>
              <a:gd name="adj" fmla="val 33721"/>
            </a:avLst>
          </a:prstGeom>
          <a:solidFill>
            <a:srgbClr val="3E25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6"/>
          <p:cNvSpPr/>
          <p:nvPr/>
        </p:nvSpPr>
        <p:spPr>
          <a:xfrm>
            <a:off x="1592200" y="1025723"/>
            <a:ext cx="385390" cy="385390"/>
          </a:xfrm>
          <a:prstGeom prst="roundRect">
            <a:avLst>
              <a:gd name="adj" fmla="val 148291"/>
            </a:avLst>
          </a:prstGeom>
          <a:solidFill>
            <a:srgbClr val="3E25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6"/>
          <p:cNvSpPr/>
          <p:nvPr/>
        </p:nvSpPr>
        <p:spPr>
          <a:xfrm>
            <a:off x="592336" y="1539553"/>
            <a:ext cx="1605930" cy="200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250"/>
              <a:buFont typeface="Platypi"/>
              <a:buNone/>
            </a:pPr>
            <a:r>
              <a:rPr lang="en-US" sz="1250" b="0" i="0" u="none" strike="noStrike" cap="none">
                <a:solidFill>
                  <a:srgbClr val="504C49"/>
                </a:solidFill>
                <a:latin typeface="Platypi"/>
                <a:ea typeface="Platypi"/>
                <a:cs typeface="Platypi"/>
                <a:sym typeface="Platypi"/>
              </a:rPr>
              <a:t>Flutter</a:t>
            </a:r>
            <a:endParaRPr sz="1250" b="0" i="0" u="none" strike="noStrike" cap="none"/>
          </a:p>
        </p:txBody>
      </p:sp>
      <p:sp>
        <p:nvSpPr>
          <p:cNvPr id="116" name="Google Shape;116;p16"/>
          <p:cNvSpPr/>
          <p:nvPr/>
        </p:nvSpPr>
        <p:spPr>
          <a:xfrm>
            <a:off x="592336" y="1810048"/>
            <a:ext cx="2385194" cy="391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000"/>
              <a:buFont typeface="Source Serif 4"/>
              <a:buNone/>
            </a:pPr>
            <a:r>
              <a:rPr lang="en-US" sz="10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Кроссплатформенная разработка мобильного приложения</a:t>
            </a:r>
            <a:endParaRPr sz="1000" b="0" i="0" u="none" strike="noStrike" cap="none"/>
          </a:p>
        </p:txBody>
      </p:sp>
      <p:sp>
        <p:nvSpPr>
          <p:cNvPr id="117" name="Google Shape;117;p16"/>
          <p:cNvSpPr/>
          <p:nvPr/>
        </p:nvSpPr>
        <p:spPr>
          <a:xfrm>
            <a:off x="3236640" y="1218381"/>
            <a:ext cx="2670646" cy="1126257"/>
          </a:xfrm>
          <a:prstGeom prst="roundRect">
            <a:avLst>
              <a:gd name="adj" fmla="val 6089"/>
            </a:avLst>
          </a:prstGeom>
          <a:solidFill>
            <a:srgbClr val="FFFFFF"/>
          </a:solidFill>
          <a:ln w="14275" cap="flat" cmpd="sng">
            <a:solidFill>
              <a:srgbClr val="D8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6"/>
          <p:cNvSpPr/>
          <p:nvPr/>
        </p:nvSpPr>
        <p:spPr>
          <a:xfrm>
            <a:off x="3236640" y="1204094"/>
            <a:ext cx="2670646" cy="57150"/>
          </a:xfrm>
          <a:prstGeom prst="roundRect">
            <a:avLst>
              <a:gd name="adj" fmla="val 33721"/>
            </a:avLst>
          </a:prstGeom>
          <a:solidFill>
            <a:srgbClr val="3E25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6"/>
          <p:cNvSpPr/>
          <p:nvPr/>
        </p:nvSpPr>
        <p:spPr>
          <a:xfrm>
            <a:off x="4379230" y="1025723"/>
            <a:ext cx="385390" cy="385390"/>
          </a:xfrm>
          <a:prstGeom prst="roundRect">
            <a:avLst>
              <a:gd name="adj" fmla="val 148291"/>
            </a:avLst>
          </a:prstGeom>
          <a:solidFill>
            <a:srgbClr val="3E25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0" name="Google Shape;120;p16" descr="preencoded.png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94870" y="1141363"/>
            <a:ext cx="154112" cy="154112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/>
          <p:nvPr/>
        </p:nvSpPr>
        <p:spPr>
          <a:xfrm>
            <a:off x="3379366" y="1539553"/>
            <a:ext cx="1605930" cy="200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250"/>
              <a:buFont typeface="Platypi"/>
              <a:buNone/>
            </a:pPr>
            <a:r>
              <a:rPr lang="en-US" sz="1250" b="0" i="0" u="none" strike="noStrike" cap="none">
                <a:solidFill>
                  <a:srgbClr val="504C49"/>
                </a:solidFill>
                <a:latin typeface="Platypi"/>
                <a:ea typeface="Platypi"/>
                <a:cs typeface="Platypi"/>
                <a:sym typeface="Platypi"/>
              </a:rPr>
              <a:t>flutter_bloc (Cubit)</a:t>
            </a:r>
            <a:endParaRPr sz="1250" b="0" i="0" u="none" strike="noStrike" cap="none"/>
          </a:p>
        </p:txBody>
      </p:sp>
      <p:sp>
        <p:nvSpPr>
          <p:cNvPr id="122" name="Google Shape;122;p16"/>
          <p:cNvSpPr/>
          <p:nvPr/>
        </p:nvSpPr>
        <p:spPr>
          <a:xfrm>
            <a:off x="3379366" y="1810048"/>
            <a:ext cx="2385194" cy="391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000"/>
              <a:buFont typeface="Source Serif 4"/>
              <a:buNone/>
            </a:pPr>
            <a:r>
              <a:rPr lang="en-US" sz="10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Управление состоянием приложения</a:t>
            </a:r>
            <a:endParaRPr sz="1000" b="0" i="0" u="none" strike="noStrike" cap="none"/>
          </a:p>
        </p:txBody>
      </p:sp>
      <p:sp>
        <p:nvSpPr>
          <p:cNvPr id="123" name="Google Shape;123;p16"/>
          <p:cNvSpPr/>
          <p:nvPr/>
        </p:nvSpPr>
        <p:spPr>
          <a:xfrm>
            <a:off x="6023670" y="1218381"/>
            <a:ext cx="2670646" cy="1126257"/>
          </a:xfrm>
          <a:prstGeom prst="roundRect">
            <a:avLst>
              <a:gd name="adj" fmla="val 6089"/>
            </a:avLst>
          </a:prstGeom>
          <a:solidFill>
            <a:srgbClr val="FFFFFF"/>
          </a:solidFill>
          <a:ln w="14275" cap="flat" cmpd="sng">
            <a:solidFill>
              <a:srgbClr val="D8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6023670" y="1204094"/>
            <a:ext cx="2670646" cy="57150"/>
          </a:xfrm>
          <a:prstGeom prst="roundRect">
            <a:avLst>
              <a:gd name="adj" fmla="val 33721"/>
            </a:avLst>
          </a:prstGeom>
          <a:solidFill>
            <a:srgbClr val="3E25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6"/>
          <p:cNvSpPr/>
          <p:nvPr/>
        </p:nvSpPr>
        <p:spPr>
          <a:xfrm>
            <a:off x="7166260" y="1025723"/>
            <a:ext cx="385390" cy="385390"/>
          </a:xfrm>
          <a:prstGeom prst="roundRect">
            <a:avLst>
              <a:gd name="adj" fmla="val 148291"/>
            </a:avLst>
          </a:prstGeom>
          <a:solidFill>
            <a:srgbClr val="3E25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6" name="Google Shape;126;p16" descr="preencoded.png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281900" y="1141363"/>
            <a:ext cx="154112" cy="154112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/>
          <p:nvPr/>
        </p:nvSpPr>
        <p:spPr>
          <a:xfrm>
            <a:off x="6166396" y="1539553"/>
            <a:ext cx="1605930" cy="200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250"/>
              <a:buFont typeface="Platypi"/>
              <a:buNone/>
            </a:pPr>
            <a:r>
              <a:rPr lang="en-US" sz="1250" b="0" i="0" u="none" strike="noStrike" cap="none">
                <a:solidFill>
                  <a:srgbClr val="504C49"/>
                </a:solidFill>
                <a:latin typeface="Platypi"/>
                <a:ea typeface="Platypi"/>
                <a:cs typeface="Platypi"/>
                <a:sym typeface="Platypi"/>
              </a:rPr>
              <a:t>Hive</a:t>
            </a:r>
            <a:endParaRPr sz="1250" b="0" i="0" u="none" strike="noStrike" cap="none"/>
          </a:p>
        </p:txBody>
      </p:sp>
      <p:sp>
        <p:nvSpPr>
          <p:cNvPr id="128" name="Google Shape;128;p16"/>
          <p:cNvSpPr/>
          <p:nvPr/>
        </p:nvSpPr>
        <p:spPr>
          <a:xfrm>
            <a:off x="6166396" y="1810048"/>
            <a:ext cx="2385194" cy="195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000"/>
              <a:buFont typeface="Source Serif 4"/>
              <a:buNone/>
            </a:pPr>
            <a:r>
              <a:rPr lang="en-US" sz="10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Локальное хранение задач</a:t>
            </a:r>
            <a:endParaRPr sz="1000" b="0" i="0" u="none" strike="noStrike" cap="none"/>
          </a:p>
        </p:txBody>
      </p:sp>
      <p:sp>
        <p:nvSpPr>
          <p:cNvPr id="129" name="Google Shape;129;p16"/>
          <p:cNvSpPr/>
          <p:nvPr/>
        </p:nvSpPr>
        <p:spPr>
          <a:xfrm>
            <a:off x="449610" y="2653680"/>
            <a:ext cx="4064124" cy="930325"/>
          </a:xfrm>
          <a:prstGeom prst="roundRect">
            <a:avLst>
              <a:gd name="adj" fmla="val 7372"/>
            </a:avLst>
          </a:prstGeom>
          <a:solidFill>
            <a:srgbClr val="FFFFFF"/>
          </a:solidFill>
          <a:ln w="14275" cap="flat" cmpd="sng">
            <a:solidFill>
              <a:srgbClr val="D8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449610" y="2639392"/>
            <a:ext cx="4064124" cy="57150"/>
          </a:xfrm>
          <a:prstGeom prst="roundRect">
            <a:avLst>
              <a:gd name="adj" fmla="val 33721"/>
            </a:avLst>
          </a:prstGeom>
          <a:solidFill>
            <a:srgbClr val="3E25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2288939" y="2461022"/>
            <a:ext cx="385390" cy="385390"/>
          </a:xfrm>
          <a:prstGeom prst="roundRect">
            <a:avLst>
              <a:gd name="adj" fmla="val 148291"/>
            </a:avLst>
          </a:prstGeom>
          <a:solidFill>
            <a:srgbClr val="3E25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2" name="Google Shape;132;p16" descr="preencoded.png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04579" y="2576661"/>
            <a:ext cx="154112" cy="15411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/>
          <p:nvPr/>
        </p:nvSpPr>
        <p:spPr>
          <a:xfrm>
            <a:off x="592336" y="2974851"/>
            <a:ext cx="2086198" cy="200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250"/>
              <a:buFont typeface="Platypi"/>
              <a:buNone/>
            </a:pPr>
            <a:r>
              <a:rPr lang="en-US" sz="1250" b="0" i="0" u="none" strike="noStrike" cap="none">
                <a:solidFill>
                  <a:srgbClr val="504C49"/>
                </a:solidFill>
                <a:latin typeface="Platypi"/>
                <a:ea typeface="Platypi"/>
                <a:cs typeface="Platypi"/>
                <a:sym typeface="Platypi"/>
              </a:rPr>
              <a:t>flutter_local_notifications</a:t>
            </a:r>
            <a:endParaRPr sz="1250" b="0" i="0" u="none" strike="noStrike" cap="none"/>
          </a:p>
        </p:txBody>
      </p:sp>
      <p:sp>
        <p:nvSpPr>
          <p:cNvPr id="134" name="Google Shape;134;p16"/>
          <p:cNvSpPr/>
          <p:nvPr/>
        </p:nvSpPr>
        <p:spPr>
          <a:xfrm>
            <a:off x="592336" y="3245346"/>
            <a:ext cx="3778672" cy="195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000"/>
              <a:buFont typeface="Source Serif 4"/>
              <a:buNone/>
            </a:pPr>
            <a:r>
              <a:rPr lang="en-US" sz="10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Локальные уведомления</a:t>
            </a:r>
            <a:endParaRPr sz="1000" b="0" i="0" u="none" strike="noStrike" cap="none"/>
          </a:p>
        </p:txBody>
      </p:sp>
      <p:sp>
        <p:nvSpPr>
          <p:cNvPr id="135" name="Google Shape;135;p16"/>
          <p:cNvSpPr/>
          <p:nvPr/>
        </p:nvSpPr>
        <p:spPr>
          <a:xfrm>
            <a:off x="4630117" y="2653680"/>
            <a:ext cx="4064198" cy="930325"/>
          </a:xfrm>
          <a:prstGeom prst="roundRect">
            <a:avLst>
              <a:gd name="adj" fmla="val 7372"/>
            </a:avLst>
          </a:prstGeom>
          <a:solidFill>
            <a:srgbClr val="FFFFFF"/>
          </a:solidFill>
          <a:ln w="14275" cap="flat" cmpd="sng">
            <a:solidFill>
              <a:srgbClr val="D8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4630117" y="2639392"/>
            <a:ext cx="4064198" cy="57150"/>
          </a:xfrm>
          <a:prstGeom prst="roundRect">
            <a:avLst>
              <a:gd name="adj" fmla="val 33721"/>
            </a:avLst>
          </a:prstGeom>
          <a:solidFill>
            <a:srgbClr val="3E25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6469521" y="2461022"/>
            <a:ext cx="385390" cy="385390"/>
          </a:xfrm>
          <a:prstGeom prst="roundRect">
            <a:avLst>
              <a:gd name="adj" fmla="val 148291"/>
            </a:avLst>
          </a:prstGeom>
          <a:solidFill>
            <a:srgbClr val="3E25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8" name="Google Shape;138;p16" descr="preencoded.png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85161" y="2576661"/>
            <a:ext cx="154112" cy="15411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/>
          <p:nvPr/>
        </p:nvSpPr>
        <p:spPr>
          <a:xfrm>
            <a:off x="4772844" y="2974851"/>
            <a:ext cx="1605930" cy="200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250"/>
              <a:buFont typeface="Platypi"/>
              <a:buNone/>
            </a:pPr>
            <a:r>
              <a:rPr lang="en-US" sz="1250" b="0" i="0" u="none" strike="noStrike" cap="none">
                <a:solidFill>
                  <a:srgbClr val="504C49"/>
                </a:solidFill>
                <a:latin typeface="Platypi"/>
                <a:ea typeface="Platypi"/>
                <a:cs typeface="Platypi"/>
                <a:sym typeface="Platypi"/>
              </a:rPr>
              <a:t>table_calendar</a:t>
            </a:r>
            <a:endParaRPr sz="1250" b="0" i="0" u="none" strike="noStrike" cap="none"/>
          </a:p>
        </p:txBody>
      </p:sp>
      <p:sp>
        <p:nvSpPr>
          <p:cNvPr id="140" name="Google Shape;140;p16"/>
          <p:cNvSpPr/>
          <p:nvPr/>
        </p:nvSpPr>
        <p:spPr>
          <a:xfrm>
            <a:off x="4772844" y="3245346"/>
            <a:ext cx="3778746" cy="195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000"/>
              <a:buFont typeface="Source Serif 4"/>
              <a:buNone/>
            </a:pPr>
            <a:r>
              <a:rPr lang="en-US" sz="10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Календарь задач</a:t>
            </a:r>
            <a:endParaRPr sz="1000" b="0" i="0" u="none" strike="noStrike" cap="none"/>
          </a:p>
        </p:txBody>
      </p:sp>
      <p:sp>
        <p:nvSpPr>
          <p:cNvPr id="141" name="Google Shape;141;p16"/>
          <p:cNvSpPr/>
          <p:nvPr/>
        </p:nvSpPr>
        <p:spPr>
          <a:xfrm>
            <a:off x="449610" y="3758580"/>
            <a:ext cx="1927101" cy="240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333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1500"/>
              <a:buFont typeface="Platypi"/>
              <a:buNone/>
            </a:pPr>
            <a:r>
              <a:rPr lang="en-US" sz="1500" b="0" i="0" u="none" strike="noStrike" cap="none">
                <a:solidFill>
                  <a:srgbClr val="201B18"/>
                </a:solidFill>
                <a:latin typeface="Platypi"/>
                <a:ea typeface="Platypi"/>
                <a:cs typeface="Platypi"/>
                <a:sym typeface="Platypi"/>
              </a:rPr>
              <a:t>Дополнительно</a:t>
            </a:r>
            <a:endParaRPr sz="1500" b="0" i="0" u="none" strike="noStrike" cap="none"/>
          </a:p>
        </p:txBody>
      </p:sp>
      <p:sp>
        <p:nvSpPr>
          <p:cNvPr id="142" name="Google Shape;142;p16"/>
          <p:cNvSpPr/>
          <p:nvPr/>
        </p:nvSpPr>
        <p:spPr>
          <a:xfrm>
            <a:off x="449610" y="4278809"/>
            <a:ext cx="3965674" cy="432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000"/>
              <a:buFont typeface="Source Serif 4"/>
              <a:buChar char="•"/>
            </a:pPr>
            <a:r>
              <a:rPr lang="en-US" sz="10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Material Design</a:t>
            </a:r>
            <a:endParaRPr sz="1000" b="0" i="0" u="none" strike="noStrike" cap="none"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000"/>
              <a:buFont typeface="Source Serif 4"/>
              <a:buChar char="•"/>
            </a:pPr>
            <a:r>
              <a:rPr lang="en-US" sz="10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Navigator</a:t>
            </a:r>
            <a:endParaRPr sz="1000" b="0" i="0" u="none" strike="noStrike" cap="none"/>
          </a:p>
        </p:txBody>
      </p:sp>
      <p:sp>
        <p:nvSpPr>
          <p:cNvPr id="143" name="Google Shape;143;p16"/>
          <p:cNvSpPr/>
          <p:nvPr/>
        </p:nvSpPr>
        <p:spPr>
          <a:xfrm>
            <a:off x="4733479" y="4278809"/>
            <a:ext cx="3965674" cy="432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000"/>
              <a:buFont typeface="Source Serif 4"/>
              <a:buChar char="•"/>
            </a:pPr>
            <a:r>
              <a:rPr lang="en-US" sz="10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StatefulWidget / StatelessWidget</a:t>
            </a:r>
            <a:endParaRPr sz="1000" b="0" i="0" u="none" strike="noStrike" cap="none"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000"/>
              <a:buFont typeface="Source Serif 4"/>
              <a:buChar char="•"/>
            </a:pPr>
            <a:r>
              <a:rPr lang="en-US" sz="10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Form Validation</a:t>
            </a:r>
            <a:endParaRPr sz="1000" b="0" i="0" u="none" strike="noStrike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7" descr="preencoded.png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/>
          <p:nvPr/>
        </p:nvSpPr>
        <p:spPr>
          <a:xfrm>
            <a:off x="496119" y="806872"/>
            <a:ext cx="4453607" cy="442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750"/>
              <a:buFont typeface="Platypi"/>
              <a:buNone/>
            </a:pPr>
            <a:r>
              <a:rPr lang="en-US" sz="2750" b="0" i="0" u="none" strike="noStrike" cap="none">
                <a:solidFill>
                  <a:srgbClr val="201B18"/>
                </a:solidFill>
                <a:latin typeface="Platypi"/>
                <a:ea typeface="Platypi"/>
                <a:cs typeface="Platypi"/>
                <a:sym typeface="Platypi"/>
              </a:rPr>
              <a:t>Архитектура приложения</a:t>
            </a:r>
            <a:endParaRPr sz="2750" b="0" i="0" u="none" strike="noStrike" cap="none"/>
          </a:p>
        </p:txBody>
      </p:sp>
      <p:sp>
        <p:nvSpPr>
          <p:cNvPr id="151" name="Google Shape;151;p17"/>
          <p:cNvSpPr/>
          <p:nvPr/>
        </p:nvSpPr>
        <p:spPr>
          <a:xfrm>
            <a:off x="496119" y="1306562"/>
            <a:ext cx="2126456" cy="265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1650"/>
              <a:buFont typeface="Platypi"/>
              <a:buNone/>
            </a:pPr>
            <a:r>
              <a:rPr lang="en-US" sz="1650" b="0" i="0" u="none" strike="noStrike" cap="none">
                <a:solidFill>
                  <a:srgbClr val="201B18"/>
                </a:solidFill>
                <a:latin typeface="Platypi"/>
                <a:ea typeface="Platypi"/>
                <a:cs typeface="Platypi"/>
                <a:sym typeface="Platypi"/>
              </a:rPr>
              <a:t>Слои приложения</a:t>
            </a:r>
            <a:endParaRPr sz="1650" b="0" i="0" u="none" strike="noStrike" cap="none"/>
          </a:p>
        </p:txBody>
      </p:sp>
      <p:pic>
        <p:nvPicPr>
          <p:cNvPr id="152" name="Google Shape;152;p17" descr="preencoded.png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6119" y="1784970"/>
            <a:ext cx="708794" cy="850553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/>
          <p:nvPr/>
        </p:nvSpPr>
        <p:spPr>
          <a:xfrm>
            <a:off x="1346671" y="1926729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350"/>
              <a:buFont typeface="Platypi"/>
              <a:buNone/>
            </a:pPr>
            <a:r>
              <a:rPr lang="en-US" sz="1350" b="0" i="0" u="none" strike="noStrike" cap="none">
                <a:solidFill>
                  <a:srgbClr val="504C49"/>
                </a:solidFill>
                <a:latin typeface="Platypi"/>
                <a:ea typeface="Platypi"/>
                <a:cs typeface="Platypi"/>
                <a:sym typeface="Platypi"/>
              </a:rPr>
              <a:t>Presentation Layer</a:t>
            </a:r>
            <a:endParaRPr sz="1350" b="0" i="0" u="none" strike="noStrike" cap="none"/>
          </a:p>
        </p:txBody>
      </p:sp>
      <p:sp>
        <p:nvSpPr>
          <p:cNvPr id="154" name="Google Shape;154;p17"/>
          <p:cNvSpPr/>
          <p:nvPr/>
        </p:nvSpPr>
        <p:spPr>
          <a:xfrm>
            <a:off x="1346671" y="2233240"/>
            <a:ext cx="3872210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100"/>
              <a:buFont typeface="Source Serif 4"/>
              <a:buNone/>
            </a:pPr>
            <a:r>
              <a:rPr lang="en-US" sz="11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Отвечает за интерфейс пользователя</a:t>
            </a:r>
            <a:endParaRPr sz="1100" b="0" i="0" u="none" strike="noStrike" cap="none"/>
          </a:p>
        </p:txBody>
      </p:sp>
      <p:pic>
        <p:nvPicPr>
          <p:cNvPr id="155" name="Google Shape;155;p17" descr="preencoded.png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6119" y="2635523"/>
            <a:ext cx="708794" cy="850553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/>
          <p:nvPr/>
        </p:nvSpPr>
        <p:spPr>
          <a:xfrm>
            <a:off x="1346671" y="2777282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350"/>
              <a:buFont typeface="Platypi"/>
              <a:buNone/>
            </a:pPr>
            <a:r>
              <a:rPr lang="en-US" sz="1350" b="0" i="0" u="none" strike="noStrike" cap="none">
                <a:solidFill>
                  <a:srgbClr val="504C49"/>
                </a:solidFill>
                <a:latin typeface="Platypi"/>
                <a:ea typeface="Platypi"/>
                <a:cs typeface="Platypi"/>
                <a:sym typeface="Platypi"/>
              </a:rPr>
              <a:t>Domain Layer</a:t>
            </a:r>
            <a:endParaRPr sz="1350" b="0" i="0" u="none" strike="noStrike" cap="none"/>
          </a:p>
        </p:txBody>
      </p:sp>
      <p:sp>
        <p:nvSpPr>
          <p:cNvPr id="157" name="Google Shape;157;p17"/>
          <p:cNvSpPr/>
          <p:nvPr/>
        </p:nvSpPr>
        <p:spPr>
          <a:xfrm>
            <a:off x="1346671" y="3083793"/>
            <a:ext cx="3872210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100"/>
              <a:buFont typeface="Source Serif 4"/>
              <a:buNone/>
            </a:pPr>
            <a:r>
              <a:rPr lang="en-US" sz="11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Бизнес-логика приложения</a:t>
            </a:r>
            <a:endParaRPr sz="1100" b="0" i="0" u="none" strike="noStrike" cap="none"/>
          </a:p>
        </p:txBody>
      </p:sp>
      <p:pic>
        <p:nvPicPr>
          <p:cNvPr id="158" name="Google Shape;158;p17" descr="preencoded.png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6119" y="3486076"/>
            <a:ext cx="708794" cy="850553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/>
          <p:nvPr/>
        </p:nvSpPr>
        <p:spPr>
          <a:xfrm>
            <a:off x="1346671" y="3627834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350"/>
              <a:buFont typeface="Platypi"/>
              <a:buNone/>
            </a:pPr>
            <a:r>
              <a:rPr lang="en-US" sz="1350" b="0" i="0" u="none" strike="noStrike" cap="none">
                <a:solidFill>
                  <a:srgbClr val="504C49"/>
                </a:solidFill>
                <a:latin typeface="Platypi"/>
                <a:ea typeface="Platypi"/>
                <a:cs typeface="Platypi"/>
                <a:sym typeface="Platypi"/>
              </a:rPr>
              <a:t>Data Layer</a:t>
            </a:r>
            <a:endParaRPr sz="1350" b="0" i="0" u="none" strike="noStrike" cap="none"/>
          </a:p>
        </p:txBody>
      </p:sp>
      <p:sp>
        <p:nvSpPr>
          <p:cNvPr id="160" name="Google Shape;160;p17"/>
          <p:cNvSpPr/>
          <p:nvPr/>
        </p:nvSpPr>
        <p:spPr>
          <a:xfrm>
            <a:off x="1346671" y="3934346"/>
            <a:ext cx="3872210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100"/>
              <a:buFont typeface="Source Serif 4"/>
              <a:buNone/>
            </a:pPr>
            <a:r>
              <a:rPr lang="en-US" sz="11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Работа с данными</a:t>
            </a:r>
            <a:endParaRPr sz="1100" b="0" i="0" u="none" strike="noStrike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/>
          <p:nvPr/>
        </p:nvSpPr>
        <p:spPr>
          <a:xfrm>
            <a:off x="496119" y="657374"/>
            <a:ext cx="3544119" cy="442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750"/>
              <a:buFont typeface="Platypi"/>
              <a:buNone/>
            </a:pPr>
            <a:r>
              <a:rPr lang="en-US" sz="2750" b="0" i="0" u="none" strike="noStrike" cap="none">
                <a:solidFill>
                  <a:srgbClr val="201B18"/>
                </a:solidFill>
                <a:latin typeface="Platypi"/>
                <a:ea typeface="Platypi"/>
                <a:cs typeface="Platypi"/>
                <a:sym typeface="Platypi"/>
              </a:rPr>
              <a:t>Presentation Layer</a:t>
            </a:r>
            <a:endParaRPr sz="2750" b="0" i="0" u="none" strike="noStrike" cap="none"/>
          </a:p>
        </p:txBody>
      </p:sp>
      <p:sp>
        <p:nvSpPr>
          <p:cNvPr id="167" name="Google Shape;167;p18"/>
          <p:cNvSpPr/>
          <p:nvPr/>
        </p:nvSpPr>
        <p:spPr>
          <a:xfrm>
            <a:off x="496119" y="1157064"/>
            <a:ext cx="3292078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1350"/>
              <a:buFont typeface="Platypi"/>
              <a:buNone/>
            </a:pPr>
            <a:r>
              <a:rPr lang="en-US" sz="1350" b="0" i="0" u="none" strike="noStrike" cap="none">
                <a:solidFill>
                  <a:srgbClr val="201B18"/>
                </a:solidFill>
                <a:latin typeface="Platypi"/>
                <a:ea typeface="Platypi"/>
                <a:cs typeface="Platypi"/>
                <a:sym typeface="Platypi"/>
              </a:rPr>
              <a:t>Отвечает за интерфейс пользователя</a:t>
            </a:r>
            <a:endParaRPr sz="1350" b="0" i="0" u="none" strike="noStrike" cap="none"/>
          </a:p>
        </p:txBody>
      </p:sp>
      <p:sp>
        <p:nvSpPr>
          <p:cNvPr id="168" name="Google Shape;168;p18"/>
          <p:cNvSpPr/>
          <p:nvPr/>
        </p:nvSpPr>
        <p:spPr>
          <a:xfrm>
            <a:off x="496119" y="1732880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1350"/>
              <a:buFont typeface="Platypi"/>
              <a:buNone/>
            </a:pPr>
            <a:r>
              <a:rPr lang="en-US" sz="1350" b="0" i="0" u="none" strike="noStrike" cap="none">
                <a:solidFill>
                  <a:srgbClr val="201B18"/>
                </a:solidFill>
                <a:latin typeface="Platypi"/>
                <a:ea typeface="Platypi"/>
                <a:cs typeface="Platypi"/>
                <a:sym typeface="Platypi"/>
              </a:rPr>
              <a:t>Содержит:</a:t>
            </a:r>
            <a:endParaRPr sz="1350" b="0" i="0" u="none" strike="noStrike" cap="none"/>
          </a:p>
        </p:txBody>
      </p:sp>
      <p:sp>
        <p:nvSpPr>
          <p:cNvPr id="169" name="Google Shape;169;p18"/>
          <p:cNvSpPr/>
          <p:nvPr/>
        </p:nvSpPr>
        <p:spPr>
          <a:xfrm>
            <a:off x="496119" y="2096095"/>
            <a:ext cx="4752677" cy="779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100"/>
              <a:buFont typeface="Source Serif 4"/>
              <a:buChar char="•"/>
            </a:pPr>
            <a:r>
              <a:rPr lang="en-US" sz="11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Screens</a:t>
            </a:r>
            <a:endParaRPr sz="1100" b="0" i="0" u="none" strike="noStrike" cap="none"/>
          </a:p>
          <a:p>
            <a:pPr marL="342900" marR="0" lvl="0" indent="-34290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100"/>
              <a:buFont typeface="Source Serif 4"/>
              <a:buChar char="•"/>
            </a:pPr>
            <a:r>
              <a:rPr lang="en-US" sz="11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Widgets</a:t>
            </a:r>
            <a:endParaRPr sz="1100" b="0" i="0" u="none" strike="noStrike" cap="none"/>
          </a:p>
          <a:p>
            <a:pPr marL="342900" marR="0" lvl="0" indent="-34290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100"/>
              <a:buFont typeface="Source Serif 4"/>
              <a:buChar char="•"/>
            </a:pPr>
            <a:r>
              <a:rPr lang="en-US" sz="11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Cubit</a:t>
            </a:r>
            <a:endParaRPr sz="1100" b="0" i="0" u="none" strike="noStrike" cap="none"/>
          </a:p>
        </p:txBody>
      </p:sp>
      <p:sp>
        <p:nvSpPr>
          <p:cNvPr id="170" name="Google Shape;170;p18"/>
          <p:cNvSpPr/>
          <p:nvPr/>
        </p:nvSpPr>
        <p:spPr>
          <a:xfrm>
            <a:off x="496119" y="3017416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1350"/>
              <a:buFont typeface="Platypi"/>
              <a:buNone/>
            </a:pPr>
            <a:r>
              <a:rPr lang="en-US" sz="1350" b="0" i="0" u="none" strike="noStrike" cap="none">
                <a:solidFill>
                  <a:srgbClr val="201B18"/>
                </a:solidFill>
                <a:latin typeface="Platypi"/>
                <a:ea typeface="Platypi"/>
                <a:cs typeface="Platypi"/>
                <a:sym typeface="Platypi"/>
              </a:rPr>
              <a:t>Примеры:</a:t>
            </a:r>
            <a:endParaRPr sz="1350" b="0" i="0" u="none" strike="noStrike" cap="none"/>
          </a:p>
        </p:txBody>
      </p:sp>
      <p:sp>
        <p:nvSpPr>
          <p:cNvPr id="171" name="Google Shape;171;p18"/>
          <p:cNvSpPr/>
          <p:nvPr/>
        </p:nvSpPr>
        <p:spPr>
          <a:xfrm>
            <a:off x="496119" y="3380631"/>
            <a:ext cx="4752677" cy="1055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100"/>
              <a:buFont typeface="Source Serif 4"/>
              <a:buChar char="•"/>
            </a:pPr>
            <a:r>
              <a:rPr lang="en-US" sz="11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HomeScreen</a:t>
            </a:r>
            <a:endParaRPr sz="1100" b="0" i="0" u="none" strike="noStrike" cap="none"/>
          </a:p>
          <a:p>
            <a:pPr marL="342900" marR="0" lvl="0" indent="-34290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100"/>
              <a:buFont typeface="Source Serif 4"/>
              <a:buChar char="•"/>
            </a:pPr>
            <a:r>
              <a:rPr lang="en-US" sz="11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TaskDetailScreen</a:t>
            </a:r>
            <a:endParaRPr sz="1100" b="0" i="0" u="none" strike="noStrike" cap="none"/>
          </a:p>
          <a:p>
            <a:pPr marL="342900" marR="0" lvl="0" indent="-34290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100"/>
              <a:buFont typeface="Source Serif 4"/>
              <a:buChar char="•"/>
            </a:pPr>
            <a:r>
              <a:rPr lang="en-US" sz="11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CalendarView</a:t>
            </a:r>
            <a:endParaRPr sz="1100" b="0" i="0" u="none" strike="noStrike" cap="none"/>
          </a:p>
          <a:p>
            <a:pPr marL="342900" marR="0" lvl="0" indent="-34290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100"/>
              <a:buFont typeface="Source Serif 4"/>
              <a:buChar char="•"/>
            </a:pPr>
            <a:r>
              <a:rPr lang="en-US" sz="11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TaskCubit</a:t>
            </a:r>
            <a:endParaRPr sz="1100" b="0" i="0" u="none" strike="noStrike" cap="none"/>
          </a:p>
        </p:txBody>
      </p:sp>
      <p:pic>
        <p:nvPicPr>
          <p:cNvPr id="172" name="Google Shape;172;p18" descr="preencoded.png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99435" y="2173560"/>
            <a:ext cx="3053135" cy="1730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 descr="preencoded.png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/>
          <p:nvPr/>
        </p:nvSpPr>
        <p:spPr>
          <a:xfrm>
            <a:off x="496119" y="650081"/>
            <a:ext cx="3544119" cy="442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750"/>
              <a:buFont typeface="Platypi"/>
              <a:buNone/>
            </a:pPr>
            <a:r>
              <a:rPr lang="en-US" sz="2750" b="0" i="0" u="none" strike="noStrike" cap="none">
                <a:solidFill>
                  <a:srgbClr val="201B18"/>
                </a:solidFill>
                <a:latin typeface="Platypi"/>
                <a:ea typeface="Platypi"/>
                <a:cs typeface="Platypi"/>
                <a:sym typeface="Platypi"/>
              </a:rPr>
              <a:t>Domain Layer</a:t>
            </a:r>
            <a:endParaRPr sz="2750" b="0" i="0" u="none" strike="noStrike" cap="none"/>
          </a:p>
        </p:txBody>
      </p:sp>
      <p:sp>
        <p:nvSpPr>
          <p:cNvPr id="180" name="Google Shape;180;p19"/>
          <p:cNvSpPr/>
          <p:nvPr/>
        </p:nvSpPr>
        <p:spPr>
          <a:xfrm>
            <a:off x="496119" y="1149772"/>
            <a:ext cx="2403723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1350"/>
              <a:buFont typeface="Platypi"/>
              <a:buNone/>
            </a:pPr>
            <a:r>
              <a:rPr lang="en-US" sz="1350" b="0" i="0" u="none" strike="noStrike" cap="none">
                <a:solidFill>
                  <a:srgbClr val="201B18"/>
                </a:solidFill>
                <a:latin typeface="Platypi"/>
                <a:ea typeface="Platypi"/>
                <a:cs typeface="Platypi"/>
                <a:sym typeface="Platypi"/>
              </a:rPr>
              <a:t>Бизнес-логика приложения</a:t>
            </a:r>
            <a:endParaRPr sz="1350" b="0" i="0" u="none" strike="noStrike" cap="none"/>
          </a:p>
        </p:txBody>
      </p:sp>
      <p:sp>
        <p:nvSpPr>
          <p:cNvPr id="181" name="Google Shape;181;p19"/>
          <p:cNvSpPr/>
          <p:nvPr/>
        </p:nvSpPr>
        <p:spPr>
          <a:xfrm>
            <a:off x="496119" y="1583829"/>
            <a:ext cx="2290465" cy="1383878"/>
          </a:xfrm>
          <a:prstGeom prst="roundRect">
            <a:avLst>
              <a:gd name="adj" fmla="val 1537"/>
            </a:avLst>
          </a:prstGeom>
          <a:solidFill>
            <a:srgbClr val="F9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9"/>
          <p:cNvSpPr/>
          <p:nvPr/>
        </p:nvSpPr>
        <p:spPr>
          <a:xfrm>
            <a:off x="637877" y="1725588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3E25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3" name="Google Shape;183;p19" descr="preencoded.png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4856" y="1842492"/>
            <a:ext cx="191319" cy="19131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/>
          <p:nvPr/>
        </p:nvSpPr>
        <p:spPr>
          <a:xfrm>
            <a:off x="637877" y="2292623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350"/>
              <a:buFont typeface="Platypi"/>
              <a:buNone/>
            </a:pPr>
            <a:r>
              <a:rPr lang="en-US" sz="1350" b="0" i="0" u="none" strike="noStrike" cap="none">
                <a:solidFill>
                  <a:srgbClr val="504C49"/>
                </a:solidFill>
                <a:latin typeface="Platypi"/>
                <a:ea typeface="Platypi"/>
                <a:cs typeface="Platypi"/>
                <a:sym typeface="Platypi"/>
              </a:rPr>
              <a:t>Entities</a:t>
            </a:r>
            <a:endParaRPr sz="1350" b="0" i="0" u="none" strike="noStrike" cap="none"/>
          </a:p>
        </p:txBody>
      </p:sp>
      <p:sp>
        <p:nvSpPr>
          <p:cNvPr id="185" name="Google Shape;185;p19"/>
          <p:cNvSpPr/>
          <p:nvPr/>
        </p:nvSpPr>
        <p:spPr>
          <a:xfrm>
            <a:off x="637877" y="2599134"/>
            <a:ext cx="2006947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100"/>
              <a:buFont typeface="Source Serif 4"/>
              <a:buNone/>
            </a:pPr>
            <a:r>
              <a:rPr lang="en-US" sz="11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TaskEntity</a:t>
            </a:r>
            <a:endParaRPr sz="1100" b="0" i="0" u="none" strike="noStrike" cap="none"/>
          </a:p>
        </p:txBody>
      </p:sp>
      <p:sp>
        <p:nvSpPr>
          <p:cNvPr id="186" name="Google Shape;186;p19"/>
          <p:cNvSpPr/>
          <p:nvPr/>
        </p:nvSpPr>
        <p:spPr>
          <a:xfrm>
            <a:off x="2928342" y="1583829"/>
            <a:ext cx="2290539" cy="1383878"/>
          </a:xfrm>
          <a:prstGeom prst="roundRect">
            <a:avLst>
              <a:gd name="adj" fmla="val 1537"/>
            </a:avLst>
          </a:prstGeom>
          <a:solidFill>
            <a:srgbClr val="F9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9"/>
          <p:cNvSpPr/>
          <p:nvPr/>
        </p:nvSpPr>
        <p:spPr>
          <a:xfrm>
            <a:off x="3070101" y="1725588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3E25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8" name="Google Shape;188;p19" descr="preencoded.png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87080" y="1842492"/>
            <a:ext cx="191319" cy="191319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/>
          <p:nvPr/>
        </p:nvSpPr>
        <p:spPr>
          <a:xfrm>
            <a:off x="3070101" y="2292623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350"/>
              <a:buFont typeface="Platypi"/>
              <a:buNone/>
            </a:pPr>
            <a:r>
              <a:rPr lang="en-US" sz="1350" b="0" i="0" u="none" strike="noStrike" cap="none">
                <a:solidFill>
                  <a:srgbClr val="504C49"/>
                </a:solidFill>
                <a:latin typeface="Platypi"/>
                <a:ea typeface="Platypi"/>
                <a:cs typeface="Platypi"/>
                <a:sym typeface="Platypi"/>
              </a:rPr>
              <a:t>Enums</a:t>
            </a:r>
            <a:endParaRPr sz="1350" b="0" i="0" u="none" strike="noStrike" cap="none"/>
          </a:p>
        </p:txBody>
      </p:sp>
      <p:sp>
        <p:nvSpPr>
          <p:cNvPr id="190" name="Google Shape;190;p19"/>
          <p:cNvSpPr/>
          <p:nvPr/>
        </p:nvSpPr>
        <p:spPr>
          <a:xfrm>
            <a:off x="3070101" y="2599134"/>
            <a:ext cx="2007022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100"/>
              <a:buFont typeface="Source Serif 4"/>
              <a:buNone/>
            </a:pPr>
            <a:r>
              <a:rPr lang="en-US" sz="11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Priority • Category</a:t>
            </a:r>
            <a:endParaRPr sz="1100" b="0" i="0" u="none" strike="noStrike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0"/>
          <p:cNvSpPr/>
          <p:nvPr/>
        </p:nvSpPr>
        <p:spPr>
          <a:xfrm>
            <a:off x="496119" y="933748"/>
            <a:ext cx="3544119" cy="442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750"/>
              <a:buFont typeface="Platypi"/>
              <a:buNone/>
            </a:pPr>
            <a:r>
              <a:rPr lang="en-US" sz="2750" b="0" i="0" u="none" strike="noStrike" cap="none">
                <a:solidFill>
                  <a:srgbClr val="201B18"/>
                </a:solidFill>
                <a:latin typeface="Platypi"/>
                <a:ea typeface="Platypi"/>
                <a:cs typeface="Platypi"/>
                <a:sym typeface="Platypi"/>
              </a:rPr>
              <a:t>Data Layer</a:t>
            </a:r>
            <a:endParaRPr sz="2750" b="0" i="0" u="none" strike="noStrike" cap="none"/>
          </a:p>
        </p:txBody>
      </p:sp>
      <p:sp>
        <p:nvSpPr>
          <p:cNvPr id="202" name="Google Shape;202;p20"/>
          <p:cNvSpPr/>
          <p:nvPr/>
        </p:nvSpPr>
        <p:spPr>
          <a:xfrm>
            <a:off x="496119" y="1433438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1350"/>
              <a:buFont typeface="Platypi"/>
              <a:buNone/>
            </a:pPr>
            <a:r>
              <a:rPr lang="en-US" sz="1350" b="0" i="0" u="none" strike="noStrike" cap="none">
                <a:solidFill>
                  <a:srgbClr val="201B18"/>
                </a:solidFill>
                <a:latin typeface="Platypi"/>
                <a:ea typeface="Platypi"/>
                <a:cs typeface="Platypi"/>
                <a:sym typeface="Platypi"/>
              </a:rPr>
              <a:t>Работа с данными</a:t>
            </a:r>
            <a:endParaRPr sz="1350" b="0" i="0" u="none" strike="noStrike" cap="none"/>
          </a:p>
        </p:txBody>
      </p:sp>
      <p:pic>
        <p:nvPicPr>
          <p:cNvPr id="203" name="Google Shape;203;p20" descr="preencoded.png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6119" y="2173560"/>
            <a:ext cx="3053135" cy="1730053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/>
          <p:nvPr/>
        </p:nvSpPr>
        <p:spPr>
          <a:xfrm>
            <a:off x="3899892" y="2009254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1350"/>
              <a:buFont typeface="Platypi"/>
              <a:buNone/>
            </a:pPr>
            <a:r>
              <a:rPr lang="en-US" sz="1350" b="0" i="0" u="none" strike="noStrike" cap="none">
                <a:solidFill>
                  <a:srgbClr val="201B18"/>
                </a:solidFill>
                <a:latin typeface="Platypi"/>
                <a:ea typeface="Platypi"/>
                <a:cs typeface="Platypi"/>
                <a:sym typeface="Platypi"/>
              </a:rPr>
              <a:t>Содержит:</a:t>
            </a:r>
            <a:endParaRPr sz="1350" b="0" i="0" u="none" strike="noStrike" cap="none"/>
          </a:p>
        </p:txBody>
      </p:sp>
      <p:sp>
        <p:nvSpPr>
          <p:cNvPr id="205" name="Google Shape;205;p20"/>
          <p:cNvSpPr/>
          <p:nvPr/>
        </p:nvSpPr>
        <p:spPr>
          <a:xfrm>
            <a:off x="3899892" y="2372469"/>
            <a:ext cx="4752677" cy="503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100"/>
              <a:buFont typeface="Source Serif 4"/>
              <a:buChar char="•"/>
            </a:pPr>
            <a:r>
              <a:rPr lang="en-US" sz="11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Models</a:t>
            </a:r>
            <a:endParaRPr sz="1100" b="0" i="0" u="none" strike="noStrike" cap="none"/>
          </a:p>
          <a:p>
            <a:pPr marL="342900" marR="0" lvl="0" indent="-34290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100"/>
              <a:buFont typeface="Source Serif 4"/>
              <a:buChar char="•"/>
            </a:pPr>
            <a:r>
              <a:rPr lang="en-US" sz="11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Services</a:t>
            </a:r>
            <a:endParaRPr sz="1100" b="0" i="0" u="none" strike="noStrike" cap="none"/>
          </a:p>
        </p:txBody>
      </p:sp>
      <p:sp>
        <p:nvSpPr>
          <p:cNvPr id="206" name="Google Shape;206;p20"/>
          <p:cNvSpPr/>
          <p:nvPr/>
        </p:nvSpPr>
        <p:spPr>
          <a:xfrm>
            <a:off x="3899892" y="3017416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1350"/>
              <a:buFont typeface="Platypi"/>
              <a:buNone/>
            </a:pPr>
            <a:r>
              <a:rPr lang="en-US" sz="1350" b="0" i="0" u="none" strike="noStrike" cap="none">
                <a:solidFill>
                  <a:srgbClr val="201B18"/>
                </a:solidFill>
                <a:latin typeface="Platypi"/>
                <a:ea typeface="Platypi"/>
                <a:cs typeface="Platypi"/>
                <a:sym typeface="Platypi"/>
              </a:rPr>
              <a:t>Примеры:</a:t>
            </a:r>
            <a:endParaRPr sz="1350" b="0" i="0" u="none" strike="noStrike" cap="none"/>
          </a:p>
        </p:txBody>
      </p:sp>
      <p:sp>
        <p:nvSpPr>
          <p:cNvPr id="207" name="Google Shape;207;p20"/>
          <p:cNvSpPr/>
          <p:nvPr/>
        </p:nvSpPr>
        <p:spPr>
          <a:xfrm>
            <a:off x="3899892" y="3380631"/>
            <a:ext cx="4752677" cy="779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100"/>
              <a:buFont typeface="Source Serif 4"/>
              <a:buChar char="•"/>
            </a:pPr>
            <a:r>
              <a:rPr lang="en-US" sz="11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TaskModel</a:t>
            </a:r>
            <a:endParaRPr sz="1100" b="0" i="0" u="none" strike="noStrike" cap="none"/>
          </a:p>
          <a:p>
            <a:pPr marL="342900" marR="0" lvl="0" indent="-34290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100"/>
              <a:buFont typeface="Source Serif 4"/>
              <a:buChar char="•"/>
            </a:pPr>
            <a:r>
              <a:rPr lang="en-US" sz="11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Hive storage</a:t>
            </a:r>
            <a:endParaRPr sz="1100" b="0" i="0" u="none" strike="noStrike" cap="none"/>
          </a:p>
          <a:p>
            <a:pPr marL="342900" marR="0" lvl="0" indent="-34290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100"/>
              <a:buFont typeface="Source Serif 4"/>
              <a:buChar char="•"/>
            </a:pPr>
            <a:r>
              <a:rPr lang="en-US" sz="11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Local Hive Storage</a:t>
            </a:r>
            <a:endParaRPr sz="1100" b="0" i="0" u="none" strike="noStrike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1"/>
          <p:cNvSpPr/>
          <p:nvPr/>
        </p:nvSpPr>
        <p:spPr>
          <a:xfrm>
            <a:off x="903759" y="326752"/>
            <a:ext cx="4712568" cy="332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050"/>
              <a:buFont typeface="Platypi"/>
              <a:buNone/>
            </a:pPr>
            <a:r>
              <a:rPr lang="en-US" sz="2050" b="0" i="0" u="none" strike="noStrike" cap="none">
                <a:solidFill>
                  <a:srgbClr val="201B18"/>
                </a:solidFill>
                <a:latin typeface="Platypi"/>
                <a:ea typeface="Platypi"/>
                <a:cs typeface="Platypi"/>
                <a:sym typeface="Platypi"/>
              </a:rPr>
              <a:t>Соответствие требованиям проекта</a:t>
            </a:r>
            <a:endParaRPr sz="2050" b="0" i="0" u="none" strike="noStrike" cap="none"/>
          </a:p>
        </p:txBody>
      </p:sp>
      <p:pic>
        <p:nvPicPr>
          <p:cNvPr id="214" name="Google Shape;214;p21" descr="preencoded.png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3759" y="831800"/>
            <a:ext cx="106263" cy="106263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1"/>
          <p:cNvSpPr/>
          <p:nvPr/>
        </p:nvSpPr>
        <p:spPr>
          <a:xfrm>
            <a:off x="903759" y="984870"/>
            <a:ext cx="3628355" cy="14288"/>
          </a:xfrm>
          <a:prstGeom prst="rect">
            <a:avLst/>
          </a:prstGeom>
          <a:solidFill>
            <a:srgbClr val="3E25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1"/>
          <p:cNvSpPr/>
          <p:nvPr/>
        </p:nvSpPr>
        <p:spPr>
          <a:xfrm>
            <a:off x="903759" y="1066577"/>
            <a:ext cx="1329035" cy="166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000"/>
              <a:buFont typeface="Platypi"/>
              <a:buNone/>
            </a:pPr>
            <a:r>
              <a:rPr lang="en-US" sz="1000" b="0" i="0" u="none" strike="noStrike" cap="none">
                <a:solidFill>
                  <a:srgbClr val="504C49"/>
                </a:solidFill>
                <a:latin typeface="Platypi"/>
                <a:ea typeface="Platypi"/>
                <a:cs typeface="Platypi"/>
                <a:sym typeface="Platypi"/>
              </a:rPr>
              <a:t>Навигация</a:t>
            </a:r>
            <a:endParaRPr sz="1000" b="0" i="0" u="none" strike="noStrike" cap="none"/>
          </a:p>
        </p:txBody>
      </p:sp>
      <p:sp>
        <p:nvSpPr>
          <p:cNvPr id="217" name="Google Shape;217;p21"/>
          <p:cNvSpPr/>
          <p:nvPr/>
        </p:nvSpPr>
        <p:spPr>
          <a:xfrm>
            <a:off x="903759" y="1280443"/>
            <a:ext cx="3628355" cy="1032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4375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800"/>
              <a:buFont typeface="Source Serif 4"/>
              <a:buChar char="•"/>
            </a:pPr>
            <a:r>
              <a:rPr lang="en-US" sz="8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MainScreen</a:t>
            </a:r>
            <a:endParaRPr sz="800" b="0" i="0" u="none" strike="noStrike" cap="none"/>
          </a:p>
          <a:p>
            <a:pPr marL="342900" marR="0" lvl="0" indent="-342900" algn="l" rtl="0">
              <a:lnSpc>
                <a:spcPct val="14375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800"/>
              <a:buFont typeface="Source Serif 4"/>
              <a:buChar char="•"/>
            </a:pPr>
            <a:r>
              <a:rPr lang="en-US" sz="8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HomeScreen</a:t>
            </a:r>
            <a:endParaRPr sz="800" b="0" i="0" u="none" strike="noStrike" cap="none"/>
          </a:p>
          <a:p>
            <a:pPr marL="342900" marR="0" lvl="0" indent="-342900" algn="l" rtl="0">
              <a:lnSpc>
                <a:spcPct val="14375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800"/>
              <a:buFont typeface="Source Serif 4"/>
              <a:buChar char="•"/>
            </a:pPr>
            <a:r>
              <a:rPr lang="en-US" sz="8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CompletedScreen</a:t>
            </a:r>
            <a:endParaRPr sz="800" b="0" i="0" u="none" strike="noStrike" cap="none"/>
          </a:p>
          <a:p>
            <a:pPr marL="342900" marR="0" lvl="0" indent="-342900" algn="l" rtl="0">
              <a:lnSpc>
                <a:spcPct val="14375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800"/>
              <a:buFont typeface="Source Serif 4"/>
              <a:buChar char="•"/>
            </a:pPr>
            <a:r>
              <a:rPr lang="en-US" sz="8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AllTasksScreen</a:t>
            </a:r>
            <a:endParaRPr sz="800" b="0" i="0" u="none" strike="noStrike" cap="none"/>
          </a:p>
          <a:p>
            <a:pPr marL="342900" marR="0" lvl="0" indent="-342900" algn="l" rtl="0">
              <a:lnSpc>
                <a:spcPct val="14375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800"/>
              <a:buFont typeface="Source Serif 4"/>
              <a:buChar char="•"/>
            </a:pPr>
            <a:r>
              <a:rPr lang="en-US" sz="8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TaskDetailScreen</a:t>
            </a:r>
            <a:endParaRPr sz="800" b="0" i="0" u="none" strike="noStrike" cap="none"/>
          </a:p>
          <a:p>
            <a:pPr marL="342900" marR="0" lvl="0" indent="-342900" algn="l" rtl="0">
              <a:lnSpc>
                <a:spcPct val="14375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800"/>
              <a:buFont typeface="Source Serif 4"/>
              <a:buChar char="•"/>
            </a:pPr>
            <a:r>
              <a:rPr lang="en-US" sz="8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CalendarScreen</a:t>
            </a:r>
            <a:endParaRPr sz="800" b="0" i="0" u="none" strike="noStrike" cap="none"/>
          </a:p>
        </p:txBody>
      </p:sp>
      <p:pic>
        <p:nvPicPr>
          <p:cNvPr id="218" name="Google Shape;218;p21" descr="preencoded.png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11812" y="831800"/>
            <a:ext cx="106263" cy="106263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1"/>
          <p:cNvSpPr/>
          <p:nvPr/>
        </p:nvSpPr>
        <p:spPr>
          <a:xfrm>
            <a:off x="4611812" y="984870"/>
            <a:ext cx="3628355" cy="14288"/>
          </a:xfrm>
          <a:prstGeom prst="rect">
            <a:avLst/>
          </a:prstGeom>
          <a:solidFill>
            <a:srgbClr val="3E25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21"/>
          <p:cNvSpPr/>
          <p:nvPr/>
        </p:nvSpPr>
        <p:spPr>
          <a:xfrm>
            <a:off x="4611812" y="1066577"/>
            <a:ext cx="1329035" cy="166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000"/>
              <a:buFont typeface="Platypi"/>
              <a:buNone/>
            </a:pPr>
            <a:r>
              <a:rPr lang="en-US" sz="1000" b="0" i="0" u="none" strike="noStrike" cap="none">
                <a:solidFill>
                  <a:srgbClr val="504C49"/>
                </a:solidFill>
                <a:latin typeface="Platypi"/>
                <a:ea typeface="Platypi"/>
                <a:cs typeface="Platypi"/>
                <a:sym typeface="Platypi"/>
              </a:rPr>
              <a:t>State Management</a:t>
            </a:r>
            <a:endParaRPr sz="1000" b="0" i="0" u="none" strike="noStrike" cap="none"/>
          </a:p>
        </p:txBody>
      </p:sp>
      <p:sp>
        <p:nvSpPr>
          <p:cNvPr id="221" name="Google Shape;221;p21"/>
          <p:cNvSpPr/>
          <p:nvPr/>
        </p:nvSpPr>
        <p:spPr>
          <a:xfrm>
            <a:off x="4611812" y="1280443"/>
            <a:ext cx="3628355" cy="148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375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800"/>
              <a:buFont typeface="Source Serif 4"/>
              <a:buNone/>
            </a:pPr>
            <a:r>
              <a:rPr lang="en-US" sz="8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Cubit (flutter_bloc)</a:t>
            </a:r>
            <a:endParaRPr sz="800" b="0" i="0" u="none" strike="noStrike" cap="none"/>
          </a:p>
        </p:txBody>
      </p:sp>
      <p:pic>
        <p:nvPicPr>
          <p:cNvPr id="222" name="Google Shape;222;p21" descr="preencoded.png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3759" y="2485653"/>
            <a:ext cx="106263" cy="106263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1"/>
          <p:cNvSpPr/>
          <p:nvPr/>
        </p:nvSpPr>
        <p:spPr>
          <a:xfrm>
            <a:off x="903759" y="2638723"/>
            <a:ext cx="3628355" cy="14288"/>
          </a:xfrm>
          <a:prstGeom prst="rect">
            <a:avLst/>
          </a:prstGeom>
          <a:solidFill>
            <a:srgbClr val="3E25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21"/>
          <p:cNvSpPr/>
          <p:nvPr/>
        </p:nvSpPr>
        <p:spPr>
          <a:xfrm>
            <a:off x="903759" y="2720429"/>
            <a:ext cx="1329035" cy="166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000"/>
              <a:buFont typeface="Platypi"/>
              <a:buNone/>
            </a:pPr>
            <a:r>
              <a:rPr lang="en-US" sz="1000" b="0" i="0" u="none" strike="noStrike" cap="none">
                <a:solidFill>
                  <a:srgbClr val="504C49"/>
                </a:solidFill>
                <a:latin typeface="Platypi"/>
                <a:ea typeface="Platypi"/>
                <a:cs typeface="Platypi"/>
                <a:sym typeface="Platypi"/>
              </a:rPr>
              <a:t>Работа с данными</a:t>
            </a:r>
            <a:endParaRPr sz="1000" b="0" i="0" u="none" strike="noStrike" cap="none"/>
          </a:p>
        </p:txBody>
      </p:sp>
      <p:sp>
        <p:nvSpPr>
          <p:cNvPr id="225" name="Google Shape;225;p21"/>
          <p:cNvSpPr/>
          <p:nvPr/>
        </p:nvSpPr>
        <p:spPr>
          <a:xfrm>
            <a:off x="903759" y="2934295"/>
            <a:ext cx="3628355" cy="148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375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800"/>
              <a:buFont typeface="Source Serif 4"/>
              <a:buNone/>
            </a:pPr>
            <a:r>
              <a:rPr lang="en-US" sz="8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Hive</a:t>
            </a:r>
            <a:endParaRPr sz="800" b="0" i="0" u="none" strike="noStrike" cap="none"/>
          </a:p>
        </p:txBody>
      </p:sp>
      <p:pic>
        <p:nvPicPr>
          <p:cNvPr id="226" name="Google Shape;226;p21" descr="preencoded.png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11812" y="2485653"/>
            <a:ext cx="106263" cy="106263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/>
          <p:nvPr/>
        </p:nvSpPr>
        <p:spPr>
          <a:xfrm>
            <a:off x="4611812" y="2638723"/>
            <a:ext cx="3628355" cy="14288"/>
          </a:xfrm>
          <a:prstGeom prst="rect">
            <a:avLst/>
          </a:prstGeom>
          <a:solidFill>
            <a:srgbClr val="3E25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1"/>
          <p:cNvSpPr/>
          <p:nvPr/>
        </p:nvSpPr>
        <p:spPr>
          <a:xfrm>
            <a:off x="4611812" y="2720429"/>
            <a:ext cx="1335137" cy="166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000"/>
              <a:buFont typeface="Platypi"/>
              <a:buNone/>
            </a:pPr>
            <a:r>
              <a:rPr lang="en-US" sz="1000" b="0" i="0" u="none" strike="noStrike" cap="none">
                <a:solidFill>
                  <a:srgbClr val="504C49"/>
                </a:solidFill>
                <a:latin typeface="Platypi"/>
                <a:ea typeface="Platypi"/>
                <a:cs typeface="Platypi"/>
                <a:sym typeface="Platypi"/>
              </a:rPr>
              <a:t>Формы и валидация</a:t>
            </a:r>
            <a:endParaRPr sz="1000" b="0" i="0" u="none" strike="noStrike" cap="none"/>
          </a:p>
        </p:txBody>
      </p:sp>
      <p:sp>
        <p:nvSpPr>
          <p:cNvPr id="229" name="Google Shape;229;p21"/>
          <p:cNvSpPr/>
          <p:nvPr/>
        </p:nvSpPr>
        <p:spPr>
          <a:xfrm>
            <a:off x="4611812" y="2934295"/>
            <a:ext cx="3628355" cy="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4375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800"/>
              <a:buFont typeface="Source Serif 4"/>
              <a:buChar char="•"/>
            </a:pPr>
            <a:r>
              <a:rPr lang="en-US" sz="8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Форма создания задачи</a:t>
            </a:r>
            <a:endParaRPr sz="800" b="0" i="0" u="none" strike="noStrike" cap="none"/>
          </a:p>
          <a:p>
            <a:pPr marL="342900" marR="0" lvl="0" indent="-342900" algn="l" rtl="0">
              <a:lnSpc>
                <a:spcPct val="14375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800"/>
              <a:buFont typeface="Source Serif 4"/>
              <a:buChar char="•"/>
            </a:pPr>
            <a:r>
              <a:rPr lang="en-US" sz="8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Проверка обязательных полей</a:t>
            </a:r>
            <a:endParaRPr sz="800" b="0" i="0" u="none" strike="noStrike" cap="none"/>
          </a:p>
        </p:txBody>
      </p:sp>
      <p:pic>
        <p:nvPicPr>
          <p:cNvPr id="230" name="Google Shape;230;p21" descr="preencoded.png"/>
          <p:cNvPicPr preferRelativeResize="0"/>
          <p:nvPr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3759" y="3432572"/>
            <a:ext cx="106263" cy="106263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1"/>
          <p:cNvSpPr/>
          <p:nvPr/>
        </p:nvSpPr>
        <p:spPr>
          <a:xfrm>
            <a:off x="903759" y="3585642"/>
            <a:ext cx="3628355" cy="14288"/>
          </a:xfrm>
          <a:prstGeom prst="rect">
            <a:avLst/>
          </a:prstGeom>
          <a:solidFill>
            <a:srgbClr val="3E25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21"/>
          <p:cNvSpPr/>
          <p:nvPr/>
        </p:nvSpPr>
        <p:spPr>
          <a:xfrm>
            <a:off x="903759" y="3667348"/>
            <a:ext cx="1329035" cy="166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000"/>
              <a:buFont typeface="Platypi"/>
              <a:buNone/>
            </a:pPr>
            <a:r>
              <a:rPr lang="en-US" sz="1000" b="0" i="0" u="none" strike="noStrike" cap="none">
                <a:solidFill>
                  <a:srgbClr val="504C49"/>
                </a:solidFill>
                <a:latin typeface="Platypi"/>
                <a:ea typeface="Platypi"/>
                <a:cs typeface="Platypi"/>
                <a:sym typeface="Platypi"/>
              </a:rPr>
              <a:t>Архитектура</a:t>
            </a:r>
            <a:endParaRPr sz="1000" b="0" i="0" u="none" strike="noStrike" cap="none"/>
          </a:p>
        </p:txBody>
      </p:sp>
      <p:sp>
        <p:nvSpPr>
          <p:cNvPr id="233" name="Google Shape;233;p21"/>
          <p:cNvSpPr/>
          <p:nvPr/>
        </p:nvSpPr>
        <p:spPr>
          <a:xfrm>
            <a:off x="903759" y="3881214"/>
            <a:ext cx="3628355" cy="8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4375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800"/>
              <a:buFont typeface="Source Serif 4"/>
              <a:buChar char="•"/>
            </a:pPr>
            <a:r>
              <a:rPr lang="en-US" sz="8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Разделение на layers</a:t>
            </a:r>
            <a:endParaRPr sz="800" b="0" i="0" u="none" strike="noStrike" cap="none"/>
          </a:p>
          <a:p>
            <a:pPr marL="342900" marR="0" lvl="0" indent="-342900" algn="l" rtl="0">
              <a:lnSpc>
                <a:spcPct val="14375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800"/>
              <a:buFont typeface="Source Serif 4"/>
              <a:buChar char="•"/>
            </a:pPr>
            <a:r>
              <a:rPr lang="en-US" sz="8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Widgets</a:t>
            </a:r>
            <a:endParaRPr sz="800" b="0" i="0" u="none" strike="noStrike" cap="none"/>
          </a:p>
          <a:p>
            <a:pPr marL="342900" marR="0" lvl="0" indent="-342900" algn="l" rtl="0">
              <a:lnSpc>
                <a:spcPct val="14375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800"/>
              <a:buFont typeface="Source Serif 4"/>
              <a:buChar char="•"/>
            </a:pPr>
            <a:r>
              <a:rPr lang="en-US" sz="8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Models</a:t>
            </a:r>
            <a:endParaRPr sz="800" b="0" i="0" u="none" strike="noStrike" cap="none"/>
          </a:p>
          <a:p>
            <a:pPr marL="342900" marR="0" lvl="0" indent="-342900" algn="l" rtl="0">
              <a:lnSpc>
                <a:spcPct val="14375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800"/>
              <a:buFont typeface="Source Serif 4"/>
              <a:buChar char="•"/>
            </a:pPr>
            <a:r>
              <a:rPr lang="en-US" sz="8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Services</a:t>
            </a:r>
            <a:endParaRPr sz="800" b="0" i="0" u="none" strike="noStrike" cap="none"/>
          </a:p>
          <a:p>
            <a:pPr marL="342900" marR="0" lvl="0" indent="-342900" algn="l" rtl="0">
              <a:lnSpc>
                <a:spcPct val="14375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800"/>
              <a:buFont typeface="Source Serif 4"/>
              <a:buChar char="•"/>
            </a:pPr>
            <a:r>
              <a:rPr lang="en-US" sz="8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Cubit</a:t>
            </a:r>
            <a:endParaRPr sz="800" b="0" i="0" u="none" strike="noStrike" cap="none"/>
          </a:p>
        </p:txBody>
      </p:sp>
      <p:pic>
        <p:nvPicPr>
          <p:cNvPr id="234" name="Google Shape;234;p21" descr="preencoded.png"/>
          <p:cNvPicPr preferRelativeResize="0"/>
          <p:nvPr/>
        </p:nvPicPr>
        <p:blipFill rotWithShape="1"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11812" y="3432572"/>
            <a:ext cx="106263" cy="106263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1"/>
          <p:cNvSpPr/>
          <p:nvPr/>
        </p:nvSpPr>
        <p:spPr>
          <a:xfrm>
            <a:off x="4611812" y="3585642"/>
            <a:ext cx="3628355" cy="14288"/>
          </a:xfrm>
          <a:prstGeom prst="rect">
            <a:avLst/>
          </a:prstGeom>
          <a:solidFill>
            <a:srgbClr val="3E25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21"/>
          <p:cNvSpPr/>
          <p:nvPr/>
        </p:nvSpPr>
        <p:spPr>
          <a:xfrm>
            <a:off x="4611812" y="3667348"/>
            <a:ext cx="1329035" cy="166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000"/>
              <a:buFont typeface="Platypi"/>
              <a:buNone/>
            </a:pPr>
            <a:r>
              <a:rPr lang="en-US" sz="1000" b="0" i="0" u="none" strike="noStrike" cap="none">
                <a:solidFill>
                  <a:srgbClr val="504C49"/>
                </a:solidFill>
                <a:latin typeface="Platypi"/>
                <a:ea typeface="Platypi"/>
                <a:cs typeface="Platypi"/>
                <a:sym typeface="Platypi"/>
              </a:rPr>
              <a:t>Git</a:t>
            </a:r>
            <a:endParaRPr sz="1000" b="0" i="0" u="none" strike="noStrike" cap="none"/>
          </a:p>
        </p:txBody>
      </p:sp>
      <p:sp>
        <p:nvSpPr>
          <p:cNvPr id="237" name="Google Shape;237;p21"/>
          <p:cNvSpPr/>
          <p:nvPr/>
        </p:nvSpPr>
        <p:spPr>
          <a:xfrm>
            <a:off x="4611812" y="3881214"/>
            <a:ext cx="3628355" cy="56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342900">
              <a:lnSpc>
                <a:spcPct val="143750"/>
              </a:lnSpc>
              <a:buClr>
                <a:srgbClr val="504C49"/>
              </a:buClr>
              <a:buSzPts val="800"/>
              <a:buFont typeface="Source Serif 4"/>
              <a:buChar char="•"/>
            </a:pPr>
            <a:r>
              <a:rPr lang="en-US" sz="800" dirty="0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  <a:hlinkClick r:id="rId9"/>
              </a:rPr>
              <a:t>https://</a:t>
            </a:r>
            <a:r>
              <a:rPr lang="en-US" sz="800" dirty="0" smtClean="0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  <a:hlinkClick r:id="rId9"/>
              </a:rPr>
              <a:t>github.com/meir111986/castle_task_tracker.git</a:t>
            </a:r>
            <a:endParaRPr lang="ru-RU" sz="800" dirty="0" smtClean="0">
              <a:solidFill>
                <a:srgbClr val="504C49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marL="342900" lvl="0" indent="-342900">
              <a:lnSpc>
                <a:spcPct val="143750"/>
              </a:lnSpc>
              <a:buClr>
                <a:srgbClr val="504C49"/>
              </a:buClr>
              <a:buSzPts val="800"/>
              <a:buFont typeface="Source Serif 4"/>
              <a:buChar char="•"/>
            </a:pPr>
            <a:r>
              <a:rPr lang="en-US" sz="800" dirty="0" err="1" smtClean="0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История</a:t>
            </a:r>
            <a:r>
              <a:rPr lang="en-US" sz="800" dirty="0" smtClean="0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</a:t>
            </a:r>
            <a:r>
              <a:rPr lang="en-US" sz="800" b="0" i="0" u="none" strike="noStrike" cap="none" dirty="0" err="1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коммитов</a:t>
            </a:r>
            <a:endParaRPr sz="800" b="0" i="0" u="none" strike="noStrike" cap="none" dirty="0"/>
          </a:p>
          <a:p>
            <a:pPr marL="342900" marR="0" lvl="0" indent="-342900" algn="l" rtl="0">
              <a:lnSpc>
                <a:spcPct val="14375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800"/>
              <a:buFont typeface="Source Serif 4"/>
              <a:buChar char="•"/>
            </a:pPr>
            <a:r>
              <a:rPr lang="en-US" sz="800" b="0" i="0" u="none" strike="noStrike" cap="none" dirty="0" err="1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Отдельные</a:t>
            </a:r>
            <a:r>
              <a:rPr lang="en-US" sz="800" b="0" i="0" u="none" strike="noStrike" cap="none" dirty="0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</a:t>
            </a:r>
            <a:r>
              <a:rPr lang="en-US" sz="800" b="0" i="0" u="none" strike="noStrike" cap="none" dirty="0" err="1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коммиты</a:t>
            </a:r>
            <a:r>
              <a:rPr lang="en-US" sz="800" b="0" i="0" u="none" strike="noStrike" cap="none" dirty="0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</a:t>
            </a:r>
            <a:r>
              <a:rPr lang="en-US" sz="800" b="0" i="0" u="none" strike="noStrike" cap="none" dirty="0" err="1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под</a:t>
            </a:r>
            <a:r>
              <a:rPr lang="en-US" sz="800" b="0" i="0" u="none" strike="noStrike" cap="none" dirty="0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</a:t>
            </a:r>
            <a:r>
              <a:rPr lang="en-US" sz="800" b="0" i="0" u="none" strike="noStrike" cap="none" dirty="0" err="1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фичи</a:t>
            </a:r>
            <a:endParaRPr sz="800" b="0" i="0" u="none" strike="noStrike" cap="non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22" descr="preencoded.png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/>
          <p:nvPr/>
        </p:nvSpPr>
        <p:spPr>
          <a:xfrm>
            <a:off x="372070" y="311721"/>
            <a:ext cx="3071887" cy="332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050"/>
              <a:buFont typeface="Platypi"/>
              <a:buNone/>
            </a:pPr>
            <a:r>
              <a:rPr lang="en-US" sz="2050" b="0" i="0" u="none" strike="noStrike" cap="none">
                <a:solidFill>
                  <a:srgbClr val="201B18"/>
                </a:solidFill>
                <a:latin typeface="Platypi"/>
                <a:ea typeface="Platypi"/>
                <a:cs typeface="Platypi"/>
                <a:sym typeface="Platypi"/>
              </a:rPr>
              <a:t>Возможные улучшения</a:t>
            </a:r>
            <a:endParaRPr sz="2050" b="0" i="0" u="none" strike="noStrike" cap="none"/>
          </a:p>
        </p:txBody>
      </p:sp>
      <p:sp>
        <p:nvSpPr>
          <p:cNvPr id="245" name="Google Shape;245;p22"/>
          <p:cNvSpPr/>
          <p:nvPr/>
        </p:nvSpPr>
        <p:spPr>
          <a:xfrm>
            <a:off x="372070" y="763563"/>
            <a:ext cx="4970859" cy="957263"/>
          </a:xfrm>
          <a:prstGeom prst="roundRect">
            <a:avLst>
              <a:gd name="adj" fmla="val 1666"/>
            </a:avLst>
          </a:prstGeom>
          <a:solidFill>
            <a:srgbClr val="FFFFFF"/>
          </a:solidFill>
          <a:ln w="14275" cap="flat" cmpd="sng">
            <a:solidFill>
              <a:srgbClr val="D8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22"/>
          <p:cNvSpPr/>
          <p:nvPr/>
        </p:nvSpPr>
        <p:spPr>
          <a:xfrm>
            <a:off x="492621" y="884113"/>
            <a:ext cx="1329035" cy="166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000"/>
              <a:buFont typeface="Platypi"/>
              <a:buNone/>
            </a:pPr>
            <a:r>
              <a:rPr lang="en-US" sz="1000" b="0" i="0" u="none" strike="noStrike" cap="none">
                <a:solidFill>
                  <a:srgbClr val="504C49"/>
                </a:solidFill>
                <a:latin typeface="Platypi"/>
                <a:ea typeface="Platypi"/>
                <a:cs typeface="Platypi"/>
                <a:sym typeface="Platypi"/>
              </a:rPr>
              <a:t>Авторизация</a:t>
            </a:r>
            <a:endParaRPr sz="1000" b="0" i="0" u="none" strike="noStrike" cap="none"/>
          </a:p>
        </p:txBody>
      </p:sp>
      <p:sp>
        <p:nvSpPr>
          <p:cNvPr id="247" name="Google Shape;247;p22"/>
          <p:cNvSpPr/>
          <p:nvPr/>
        </p:nvSpPr>
        <p:spPr>
          <a:xfrm>
            <a:off x="492621" y="1097979"/>
            <a:ext cx="4729758" cy="502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4375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800"/>
              <a:buFont typeface="Source Serif 4"/>
              <a:buChar char="•"/>
            </a:pPr>
            <a:r>
              <a:rPr lang="en-US" sz="8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Подключение БД(Supabase/Firebase/API)</a:t>
            </a:r>
            <a:endParaRPr sz="800" b="0" i="0" u="none" strike="noStrike" cap="none"/>
          </a:p>
          <a:p>
            <a:pPr marL="342900" marR="0" lvl="0" indent="-342900" algn="l" rtl="0">
              <a:lnSpc>
                <a:spcPct val="14375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800"/>
              <a:buFont typeface="Source Serif 4"/>
              <a:buChar char="•"/>
            </a:pPr>
            <a:r>
              <a:rPr lang="en-US" sz="8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Вход через Google</a:t>
            </a:r>
            <a:endParaRPr sz="800" b="0" i="0" u="none" strike="noStrike" cap="none"/>
          </a:p>
          <a:p>
            <a:pPr marL="342900" marR="0" lvl="0" indent="-342900" algn="l" rtl="0">
              <a:lnSpc>
                <a:spcPct val="14375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800"/>
              <a:buFont typeface="Source Serif 4"/>
              <a:buChar char="•"/>
            </a:pPr>
            <a:r>
              <a:rPr lang="en-US" sz="8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Регистрация пользователей</a:t>
            </a:r>
            <a:endParaRPr sz="800" b="0" i="0" u="none" strike="noStrike" cap="none"/>
          </a:p>
        </p:txBody>
      </p:sp>
      <p:sp>
        <p:nvSpPr>
          <p:cNvPr id="248" name="Google Shape;248;p22"/>
          <p:cNvSpPr/>
          <p:nvPr/>
        </p:nvSpPr>
        <p:spPr>
          <a:xfrm>
            <a:off x="372070" y="1800523"/>
            <a:ext cx="4970859" cy="780529"/>
          </a:xfrm>
          <a:prstGeom prst="roundRect">
            <a:avLst>
              <a:gd name="adj" fmla="val 2043"/>
            </a:avLst>
          </a:prstGeom>
          <a:solidFill>
            <a:srgbClr val="FFFFFF"/>
          </a:solidFill>
          <a:ln w="14275" cap="flat" cmpd="sng">
            <a:solidFill>
              <a:srgbClr val="D8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22"/>
          <p:cNvSpPr/>
          <p:nvPr/>
        </p:nvSpPr>
        <p:spPr>
          <a:xfrm>
            <a:off x="492621" y="1921073"/>
            <a:ext cx="1329035" cy="166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000"/>
              <a:buFont typeface="Platypi"/>
              <a:buNone/>
            </a:pPr>
            <a:r>
              <a:rPr lang="en-US" sz="1000" b="0" i="0" u="none" strike="noStrike" cap="none">
                <a:solidFill>
                  <a:srgbClr val="504C49"/>
                </a:solidFill>
                <a:latin typeface="Platypi"/>
                <a:ea typeface="Platypi"/>
                <a:cs typeface="Platypi"/>
                <a:sym typeface="Platypi"/>
              </a:rPr>
              <a:t>Push-уведомления</a:t>
            </a:r>
            <a:endParaRPr sz="1000" b="0" i="0" u="none" strike="noStrike" cap="none"/>
          </a:p>
        </p:txBody>
      </p:sp>
      <p:sp>
        <p:nvSpPr>
          <p:cNvPr id="250" name="Google Shape;250;p22"/>
          <p:cNvSpPr/>
          <p:nvPr/>
        </p:nvSpPr>
        <p:spPr>
          <a:xfrm>
            <a:off x="492621" y="2134939"/>
            <a:ext cx="4729758" cy="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4375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800"/>
              <a:buFont typeface="Source Serif 4"/>
              <a:buChar char="•"/>
            </a:pPr>
            <a:r>
              <a:rPr lang="en-US" sz="8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Серверные уведомления</a:t>
            </a:r>
            <a:endParaRPr sz="800" b="0" i="0" u="none" strike="noStrike" cap="none"/>
          </a:p>
          <a:p>
            <a:pPr marL="342900" marR="0" lvl="0" indent="-342900" algn="l" rtl="0">
              <a:lnSpc>
                <a:spcPct val="14375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800"/>
              <a:buFont typeface="Source Serif 4"/>
              <a:buChar char="•"/>
            </a:pPr>
            <a:r>
              <a:rPr lang="en-US" sz="8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Повторяющиеся напоминания</a:t>
            </a:r>
            <a:endParaRPr sz="800" b="0" i="0" u="none" strike="noStrike" cap="none"/>
          </a:p>
        </p:txBody>
      </p:sp>
      <p:sp>
        <p:nvSpPr>
          <p:cNvPr id="251" name="Google Shape;251;p22"/>
          <p:cNvSpPr/>
          <p:nvPr/>
        </p:nvSpPr>
        <p:spPr>
          <a:xfrm>
            <a:off x="372070" y="2660749"/>
            <a:ext cx="4970859" cy="957263"/>
          </a:xfrm>
          <a:prstGeom prst="roundRect">
            <a:avLst>
              <a:gd name="adj" fmla="val 1666"/>
            </a:avLst>
          </a:prstGeom>
          <a:solidFill>
            <a:srgbClr val="FFFFFF"/>
          </a:solidFill>
          <a:ln w="14275" cap="flat" cmpd="sng">
            <a:solidFill>
              <a:srgbClr val="D8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22"/>
          <p:cNvSpPr/>
          <p:nvPr/>
        </p:nvSpPr>
        <p:spPr>
          <a:xfrm>
            <a:off x="492621" y="2781300"/>
            <a:ext cx="1329035" cy="166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000"/>
              <a:buFont typeface="Platypi"/>
              <a:buNone/>
            </a:pPr>
            <a:r>
              <a:rPr lang="en-US" sz="1000" b="0" i="0" u="none" strike="noStrike" cap="none">
                <a:solidFill>
                  <a:srgbClr val="504C49"/>
                </a:solidFill>
                <a:latin typeface="Platypi"/>
                <a:ea typeface="Platypi"/>
                <a:cs typeface="Platypi"/>
                <a:sym typeface="Platypi"/>
              </a:rPr>
              <a:t>UI/UX</a:t>
            </a:r>
            <a:endParaRPr sz="1000" b="0" i="0" u="none" strike="noStrike" cap="none"/>
          </a:p>
        </p:txBody>
      </p:sp>
      <p:sp>
        <p:nvSpPr>
          <p:cNvPr id="253" name="Google Shape;253;p22"/>
          <p:cNvSpPr/>
          <p:nvPr/>
        </p:nvSpPr>
        <p:spPr>
          <a:xfrm>
            <a:off x="492621" y="2995166"/>
            <a:ext cx="4729758" cy="502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4375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800"/>
              <a:buFont typeface="Source Serif 4"/>
              <a:buChar char="•"/>
            </a:pPr>
            <a:r>
              <a:rPr lang="en-US" sz="8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Тёмная тема</a:t>
            </a:r>
            <a:endParaRPr sz="800" b="0" i="0" u="none" strike="noStrike" cap="none"/>
          </a:p>
          <a:p>
            <a:pPr marL="342900" marR="0" lvl="0" indent="-342900" algn="l" rtl="0">
              <a:lnSpc>
                <a:spcPct val="14375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800"/>
              <a:buFont typeface="Source Serif 4"/>
              <a:buChar char="•"/>
            </a:pPr>
            <a:r>
              <a:rPr lang="en-US" sz="8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Статистика продуктивности</a:t>
            </a:r>
            <a:endParaRPr sz="800" b="0" i="0" u="none" strike="noStrike" cap="none"/>
          </a:p>
          <a:p>
            <a:pPr marL="342900" marR="0" lvl="0" indent="-342900" algn="l" rtl="0">
              <a:lnSpc>
                <a:spcPct val="14375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800"/>
              <a:buFont typeface="Source Serif 4"/>
              <a:buChar char="•"/>
            </a:pPr>
            <a:r>
              <a:rPr lang="en-US" sz="8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Анимации</a:t>
            </a:r>
            <a:endParaRPr sz="800" b="0" i="0" u="none" strike="noStrike" cap="none"/>
          </a:p>
        </p:txBody>
      </p:sp>
      <p:sp>
        <p:nvSpPr>
          <p:cNvPr id="254" name="Google Shape;254;p22"/>
          <p:cNvSpPr/>
          <p:nvPr/>
        </p:nvSpPr>
        <p:spPr>
          <a:xfrm>
            <a:off x="372070" y="3697709"/>
            <a:ext cx="4970859" cy="1133996"/>
          </a:xfrm>
          <a:prstGeom prst="roundRect">
            <a:avLst>
              <a:gd name="adj" fmla="val 1406"/>
            </a:avLst>
          </a:prstGeom>
          <a:solidFill>
            <a:srgbClr val="FFFFFF"/>
          </a:solidFill>
          <a:ln w="14275" cap="flat" cmpd="sng">
            <a:solidFill>
              <a:srgbClr val="D8D4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22"/>
          <p:cNvSpPr/>
          <p:nvPr/>
        </p:nvSpPr>
        <p:spPr>
          <a:xfrm>
            <a:off x="492621" y="3818260"/>
            <a:ext cx="1329035" cy="166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000"/>
              <a:buFont typeface="Platypi"/>
              <a:buNone/>
            </a:pPr>
            <a:r>
              <a:rPr lang="en-US" sz="1000" b="0" i="0" u="none" strike="noStrike" cap="none">
                <a:solidFill>
                  <a:srgbClr val="504C49"/>
                </a:solidFill>
                <a:latin typeface="Platypi"/>
                <a:ea typeface="Platypi"/>
                <a:cs typeface="Platypi"/>
                <a:sym typeface="Platypi"/>
              </a:rPr>
              <a:t>Дополнительно</a:t>
            </a:r>
            <a:endParaRPr sz="1000" b="0" i="0" u="none" strike="noStrike" cap="none"/>
          </a:p>
        </p:txBody>
      </p:sp>
      <p:sp>
        <p:nvSpPr>
          <p:cNvPr id="256" name="Google Shape;256;p22"/>
          <p:cNvSpPr/>
          <p:nvPr/>
        </p:nvSpPr>
        <p:spPr>
          <a:xfrm>
            <a:off x="492621" y="4032126"/>
            <a:ext cx="4729758" cy="679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4375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800"/>
              <a:buFont typeface="Source Serif 4"/>
              <a:buChar char="•"/>
            </a:pPr>
            <a:r>
              <a:rPr lang="en-US" sz="8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Совместные задачи</a:t>
            </a:r>
            <a:endParaRPr sz="800" b="0" i="0" u="none" strike="noStrike" cap="none"/>
          </a:p>
          <a:p>
            <a:pPr marL="342900" marR="0" lvl="0" indent="-342900" algn="l" rtl="0">
              <a:lnSpc>
                <a:spcPct val="14375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800"/>
              <a:buFont typeface="Source Serif 4"/>
              <a:buChar char="•"/>
            </a:pPr>
            <a:r>
              <a:rPr lang="en-US" sz="8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Вложения</a:t>
            </a:r>
            <a:endParaRPr sz="800" b="0" i="0" u="none" strike="noStrike" cap="none"/>
          </a:p>
          <a:p>
            <a:pPr marL="342900" marR="0" lvl="0" indent="-342900" algn="l" rtl="0">
              <a:lnSpc>
                <a:spcPct val="14375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800"/>
              <a:buFont typeface="Source Serif 4"/>
              <a:buChar char="•"/>
            </a:pPr>
            <a:r>
              <a:rPr lang="en-US" sz="8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Экспорт задач</a:t>
            </a:r>
            <a:endParaRPr sz="800" b="0" i="0" u="none" strike="noStrike" cap="none"/>
          </a:p>
          <a:p>
            <a:pPr marL="342900" marR="0" lvl="0" indent="-342900" algn="l" rtl="0">
              <a:lnSpc>
                <a:spcPct val="14375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800"/>
              <a:buFont typeface="Source Serif 4"/>
              <a:buChar char="•"/>
            </a:pPr>
            <a:r>
              <a:rPr lang="en-US" sz="800" b="0" i="0" u="none" strike="noStrike" cap="non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Офлайн/онлайн синхронизация</a:t>
            </a:r>
            <a:endParaRPr sz="800" b="0" i="0" u="none" strike="noStrike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353</Words>
  <Application>Microsoft Office PowerPoint</Application>
  <PresentationFormat>Экран (16:9)</PresentationFormat>
  <Paragraphs>151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Platypi</vt:lpstr>
      <vt:lpstr>Arial</vt:lpstr>
      <vt:lpstr>Source Serif 4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Admin</cp:lastModifiedBy>
  <cp:revision>5</cp:revision>
  <dcterms:modified xsi:type="dcterms:W3CDTF">2026-05-08T09:54:50Z</dcterms:modified>
</cp:coreProperties>
</file>